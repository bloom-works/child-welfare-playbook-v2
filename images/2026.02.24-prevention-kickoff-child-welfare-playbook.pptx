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Roboto"/>
      <p:regular r:id="rId26"/>
      <p:bold r:id="rId27"/>
      <p:italic r:id="rId28"/>
      <p:boldItalic r:id="rId29"/>
    </p:embeddedFont>
    <p:embeddedFont>
      <p:font typeface="Poppins"/>
      <p:regular r:id="rId30"/>
      <p:bold r:id="rId31"/>
      <p:italic r:id="rId32"/>
      <p:boldItalic r:id="rId33"/>
    </p:embeddedFont>
    <p:embeddedFont>
      <p:font typeface="Comfortaa"/>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62666F-9206-4AE4-8F2C-4B9C192C2A89}">
  <a:tblStyle styleId="{5762666F-9206-4AE4-8F2C-4B9C192C2A8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regular.fntdata"/><Relationship Id="rId25" Type="http://schemas.openxmlformats.org/officeDocument/2006/relationships/slide" Target="slides/slide19.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fntdata"/><Relationship Id="rId30" Type="http://schemas.openxmlformats.org/officeDocument/2006/relationships/font" Target="fonts/Poppins-regular.fntdata"/><Relationship Id="rId11" Type="http://schemas.openxmlformats.org/officeDocument/2006/relationships/slide" Target="slides/slide5.xml"/><Relationship Id="rId33" Type="http://schemas.openxmlformats.org/officeDocument/2006/relationships/font" Target="fonts/Poppins-boldItalic.fntdata"/><Relationship Id="rId10" Type="http://schemas.openxmlformats.org/officeDocument/2006/relationships/slide" Target="slides/slide4.xml"/><Relationship Id="rId32" Type="http://schemas.openxmlformats.org/officeDocument/2006/relationships/font" Target="fonts/Poppins-italic.fntdata"/><Relationship Id="rId13" Type="http://schemas.openxmlformats.org/officeDocument/2006/relationships/slide" Target="slides/slide7.xml"/><Relationship Id="rId35" Type="http://schemas.openxmlformats.org/officeDocument/2006/relationships/font" Target="fonts/Comfortaa-bold.fntdata"/><Relationship Id="rId12" Type="http://schemas.openxmlformats.org/officeDocument/2006/relationships/slide" Target="slides/slide6.xml"/><Relationship Id="rId34" Type="http://schemas.openxmlformats.org/officeDocument/2006/relationships/font" Target="fonts/Comfortaa-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794f38cae0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g3794f38cae0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f5a93dfa9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3bf5a93dfa9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794f38cae0_0_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794f38cae0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f5a93dfa9_0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g3bf5a93dfa9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f5a93dfa9_0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3bf5a93dfa9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f5a93dfa9_0_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bf5a93dfa9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SzPts val="1100"/>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f5a93dfa9_0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bf5a93dfa9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SzPts val="1100"/>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f5a93dfa9_0_2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bf5a93dfa9_0_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Clr>
                <a:schemeClr val="dk1"/>
              </a:buClr>
              <a:buSzPts val="1100"/>
              <a:buFont typeface="Arial"/>
              <a:buNone/>
            </a:pPr>
            <a:r>
              <a:rPr lang="en"/>
              <a:t>We might look at someone not making it back to kin differently based on how many kin placements they had prior to that move. If they had a bunch of kin placements and then left kin, we might say that it seems like all kin options were exhausted. It’s different if they just had one kin placement and then left. We can look into that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f5a93dfa9_0_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bf5a93dfa9_0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Clr>
                <a:schemeClr val="dk1"/>
              </a:buClr>
              <a:buSzPts val="1100"/>
              <a:buFont typeface="Arial"/>
              <a:buNone/>
            </a:pPr>
            <a:r>
              <a:rPr lang="en"/>
              <a:t>We might look at someone not making it back to kin differently based on how many kin placements they had prior to that move. If they had a bunch of kin placements and then left kin, we might say that it seems like all kin options were exhausted. It’s different if they just had one kin placement and then left. We can look into that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f5a93dfa9_0_2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3bf5a93dfa9_0_2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Clr>
                <a:schemeClr val="dk1"/>
              </a:buClr>
              <a:buSzPts val="1100"/>
              <a:buFont typeface="Arial"/>
              <a:buNone/>
            </a:pPr>
            <a:r>
              <a:rPr lang="en"/>
              <a:t>We might look at someone not making it back to kin differently based on how many kin placements they had prior to that move. If they had a bunch of kin placements and then left kin, we might say that it seems like all kin options were exhausted. It’s different if they just had one kin placement and then left. We can look into that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bf5a93dfa9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bf5a93dfa9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Clr>
                <a:schemeClr val="dk1"/>
              </a:buClr>
              <a:buSzPts val="1100"/>
              <a:buFont typeface="Arial"/>
              <a:buNone/>
            </a:pPr>
            <a:r>
              <a:rPr lang="en"/>
              <a:t>We might look at someone not making it back to kin differently based on how many kin placements they had prior to that move. If they had a bunch of kin placements and then left kin, we might say that it seems like all kin options were exhausted. It’s different if they just had one kin placement and then left. We can look into that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bf5a93dfa9_0_2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bf5a93dfa9_0_2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Clr>
                <a:schemeClr val="dk1"/>
              </a:buClr>
              <a:buSzPts val="1100"/>
              <a:buFont typeface="Arial"/>
              <a:buNone/>
            </a:pPr>
            <a:r>
              <a:rPr lang="en"/>
              <a:t>We might look at someone not making it back to kin differently based on how many kin placements they had prior to that move. If they had a bunch of kin placements and then left kin, we might say that it seems like all kin options were exhausted. It’s different if they just had one kin placement and then left. We can look into that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cb169bf8a3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3cb169bf8a3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Clr>
                <a:schemeClr val="dk1"/>
              </a:buClr>
              <a:buSzPts val="1100"/>
              <a:buFont typeface="Arial"/>
              <a:buNone/>
            </a:pPr>
            <a:r>
              <a:rPr lang="en"/>
              <a:t>We might look at someone not making it back to kin differently based on how many kin placements they had prior to that move. If they had a bunch of kin placements and then left kin, we might say that it seems like all kin options were exhausted. It’s different if they just had one kin placement and then left. We can look into that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f5a93dfa9_0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3bf5a93dfa9_0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f5a93dfa9_0_2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g3bf5a93dfa9_0_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SzPts val="1100"/>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f5a93dfa9_0_4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bf5a93dfa9_0_4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bf5a93dfa9_0_3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3bf5a93dfa9_0_3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SzPts val="1100"/>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bf5a93dfa9_0_4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g3bf5a93dfa9_0_4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4999"/>
              </a:lnSpc>
              <a:spcBef>
                <a:spcPts val="0"/>
              </a:spcBef>
              <a:spcAft>
                <a:spcPts val="0"/>
              </a:spcAft>
              <a:buSzPts val="1100"/>
              <a:buNone/>
            </a:pPr>
            <a:r>
              <a:t/>
            </a:r>
            <a:endParaRPr sz="1050">
              <a:solidFill>
                <a:srgbClr val="444746"/>
              </a:solidFill>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cb169bf8a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3cb169bf8a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50" name="Shape 50"/>
        <p:cNvGrpSpPr/>
        <p:nvPr/>
      </p:nvGrpSpPr>
      <p:grpSpPr>
        <a:xfrm>
          <a:off x="0" y="0"/>
          <a:ext cx="0" cy="0"/>
          <a:chOff x="0" y="0"/>
          <a:chExt cx="0" cy="0"/>
        </a:xfrm>
      </p:grpSpPr>
      <p:sp>
        <p:nvSpPr>
          <p:cNvPr id="51" name="Google Shape;51;p13"/>
          <p:cNvSpPr txBox="1"/>
          <p:nvPr>
            <p:ph type="title"/>
          </p:nvPr>
        </p:nvSpPr>
        <p:spPr>
          <a:xfrm>
            <a:off x="311700" y="2150850"/>
            <a:ext cx="8520600" cy="841800"/>
          </a:xfrm>
          <a:prstGeom prst="rect">
            <a:avLst/>
          </a:prstGeom>
          <a:noFill/>
          <a:ln>
            <a:noFill/>
          </a:ln>
        </p:spPr>
        <p:txBody>
          <a:bodyPr anchorCtr="0" anchor="ctr" bIns="34275" lIns="68575" spcFirstLastPara="1" rIns="68575" wrap="square" tIns="34275">
            <a:normAutofit/>
          </a:bodyPr>
          <a:lstStyle>
            <a:lvl1pPr lvl="0" algn="ctr">
              <a:lnSpc>
                <a:spcPct val="9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52" name="Google Shape;52;p13"/>
          <p:cNvSpPr txBox="1"/>
          <p:nvPr>
            <p:ph idx="12" type="sldNum"/>
          </p:nvPr>
        </p:nvSpPr>
        <p:spPr>
          <a:xfrm>
            <a:off x="8472458" y="4663217"/>
            <a:ext cx="548700" cy="3936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5" name="Google Shape;55;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 name="Google Shape;56;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7" name="Google Shape;57;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8" name="Google Shape;58;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tableau-public.acf.gov/views/afcars_dashboard_main_page/mainpag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s://tableau-public.acf.gov/views/afcars_dashboard_main_page/mainpag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tableau-public.acf.gov/views/afcars_dashboard_main_page/mainpag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3E51"/>
        </a:solidFill>
      </p:bgPr>
    </p:bg>
    <p:spTree>
      <p:nvGrpSpPr>
        <p:cNvPr id="62" name="Shape 62"/>
        <p:cNvGrpSpPr/>
        <p:nvPr/>
      </p:nvGrpSpPr>
      <p:grpSpPr>
        <a:xfrm>
          <a:off x="0" y="0"/>
          <a:ext cx="0" cy="0"/>
          <a:chOff x="0" y="0"/>
          <a:chExt cx="0" cy="0"/>
        </a:xfrm>
      </p:grpSpPr>
      <p:pic>
        <p:nvPicPr>
          <p:cNvPr id="63" name="Google Shape;63;p15"/>
          <p:cNvPicPr preferRelativeResize="0"/>
          <p:nvPr/>
        </p:nvPicPr>
        <p:blipFill rotWithShape="1">
          <a:blip r:embed="rId3">
            <a:alphaModFix/>
          </a:blip>
          <a:srcRect b="0" l="0" r="0" t="0"/>
          <a:stretch/>
        </p:blipFill>
        <p:spPr>
          <a:xfrm>
            <a:off x="7164725" y="4349167"/>
            <a:ext cx="1979277" cy="759233"/>
          </a:xfrm>
          <a:prstGeom prst="rect">
            <a:avLst/>
          </a:prstGeom>
          <a:noFill/>
          <a:ln>
            <a:noFill/>
          </a:ln>
        </p:spPr>
      </p:pic>
      <p:sp>
        <p:nvSpPr>
          <p:cNvPr id="64" name="Google Shape;64;p15"/>
          <p:cNvSpPr txBox="1"/>
          <p:nvPr/>
        </p:nvSpPr>
        <p:spPr>
          <a:xfrm>
            <a:off x="603900" y="871500"/>
            <a:ext cx="7936200" cy="355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9ECEE8"/>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9ECEE8"/>
              </a:solidFill>
              <a:latin typeface="Poppins"/>
              <a:ea typeface="Poppins"/>
              <a:cs typeface="Poppins"/>
              <a:sym typeface="Poppins"/>
            </a:endParaRPr>
          </a:p>
          <a:p>
            <a:pPr indent="0" lvl="0" marL="0" marR="0" rtl="0" algn="ctr">
              <a:lnSpc>
                <a:spcPct val="100000"/>
              </a:lnSpc>
              <a:spcBef>
                <a:spcPts val="0"/>
              </a:spcBef>
              <a:spcAft>
                <a:spcPts val="0"/>
              </a:spcAft>
              <a:buClr>
                <a:schemeClr val="dk1"/>
              </a:buClr>
              <a:buSzPts val="4500"/>
              <a:buFont typeface="Arial"/>
              <a:buNone/>
            </a:pPr>
            <a:r>
              <a:rPr b="1" lang="en" sz="2800">
                <a:solidFill>
                  <a:srgbClr val="9ECEE8"/>
                </a:solidFill>
                <a:latin typeface="Poppins"/>
                <a:ea typeface="Poppins"/>
                <a:cs typeface="Poppins"/>
                <a:sym typeface="Poppins"/>
              </a:rPr>
              <a:t>Prevention Improvements and Impacts on Children in Care</a:t>
            </a:r>
            <a:endParaRPr b="1" sz="2800">
              <a:solidFill>
                <a:srgbClr val="9ECEE8"/>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2600"/>
              <a:buFont typeface="Arial"/>
              <a:buNone/>
            </a:pPr>
            <a:r>
              <a:t/>
            </a:r>
            <a:endParaRPr b="1" i="0" sz="1600" u="none" cap="none" strike="noStrike">
              <a:solidFill>
                <a:srgbClr val="9ECEE8"/>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9ECEE8"/>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3300"/>
              <a:buFont typeface="Calibri"/>
              <a:buNone/>
            </a:pPr>
            <a:r>
              <a:rPr b="1" i="0" lang="en" sz="1700" u="none" cap="none" strike="noStrike">
                <a:solidFill>
                  <a:srgbClr val="9ECEE8"/>
                </a:solidFill>
                <a:latin typeface="Poppins"/>
                <a:ea typeface="Poppins"/>
                <a:cs typeface="Poppins"/>
                <a:sym typeface="Poppins"/>
              </a:rPr>
              <a:t>Foster Insights</a:t>
            </a:r>
            <a:endParaRPr b="1" i="0" sz="1700" u="none" cap="none" strike="noStrike">
              <a:solidFill>
                <a:srgbClr val="9ECEE8"/>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3300"/>
              <a:buFont typeface="Calibri"/>
              <a:buNone/>
            </a:pPr>
            <a:r>
              <a:rPr b="0" i="0" lang="en" sz="1700" u="none" cap="none" strike="noStrike">
                <a:solidFill>
                  <a:srgbClr val="9ECEE8"/>
                </a:solidFill>
                <a:latin typeface="Poppins"/>
                <a:ea typeface="Poppins"/>
                <a:cs typeface="Poppins"/>
                <a:sym typeface="Poppins"/>
              </a:rPr>
              <a:t>University of Chicago</a:t>
            </a:r>
            <a:endParaRPr b="0" i="0" sz="1700" u="none" cap="none" strike="noStrike">
              <a:solidFill>
                <a:srgbClr val="9ECEE8"/>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3300"/>
              <a:buFont typeface="Calibri"/>
              <a:buNone/>
            </a:pPr>
            <a:r>
              <a:t/>
            </a:r>
            <a:endParaRPr b="0" i="0" sz="1000" u="none" cap="none" strike="noStrike">
              <a:solidFill>
                <a:srgbClr val="9ECEE8"/>
              </a:solidFill>
              <a:latin typeface="Poppins"/>
              <a:ea typeface="Poppins"/>
              <a:cs typeface="Poppins"/>
              <a:sym typeface="Poppins"/>
            </a:endParaRPr>
          </a:p>
          <a:p>
            <a:pPr indent="0" lvl="0" marL="0" marR="0" rtl="0" algn="ctr">
              <a:lnSpc>
                <a:spcPct val="115000"/>
              </a:lnSpc>
              <a:spcBef>
                <a:spcPts val="0"/>
              </a:spcBef>
              <a:spcAft>
                <a:spcPts val="0"/>
              </a:spcAft>
              <a:buClr>
                <a:srgbClr val="000000"/>
              </a:buClr>
              <a:buSzPts val="1700"/>
              <a:buFont typeface="Arial"/>
              <a:buNone/>
            </a:pPr>
            <a:r>
              <a:rPr b="0" i="0" lang="en" sz="1700" u="none" cap="none" strike="noStrike">
                <a:solidFill>
                  <a:srgbClr val="9ECEE8"/>
                </a:solidFill>
                <a:latin typeface="Poppins"/>
                <a:ea typeface="Poppins"/>
                <a:cs typeface="Poppins"/>
                <a:sym typeface="Poppins"/>
              </a:rPr>
              <a:t>202</a:t>
            </a:r>
            <a:r>
              <a:rPr lang="en" sz="1700">
                <a:solidFill>
                  <a:srgbClr val="9ECEE8"/>
                </a:solidFill>
                <a:latin typeface="Poppins"/>
                <a:ea typeface="Poppins"/>
                <a:cs typeface="Poppins"/>
                <a:sym typeface="Poppins"/>
              </a:rPr>
              <a:t>6</a:t>
            </a:r>
            <a:endParaRPr b="1" i="0" sz="1600" u="none" cap="none" strike="noStrike">
              <a:solidFill>
                <a:srgbClr val="9ECEE8"/>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9ECEE8"/>
              </a:solidFill>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p:nvPr/>
        </p:nvSpPr>
        <p:spPr>
          <a:xfrm rot="5400000">
            <a:off x="0" y="0"/>
            <a:ext cx="1151100" cy="1151100"/>
          </a:xfrm>
          <a:prstGeom prst="corner">
            <a:avLst>
              <a:gd fmla="val 50000" name="adj1"/>
              <a:gd fmla="val 50000" name="adj2"/>
            </a:avLst>
          </a:prstGeom>
          <a:solidFill>
            <a:srgbClr val="FC45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6"/>
          <p:cNvSpPr/>
          <p:nvPr/>
        </p:nvSpPr>
        <p:spPr>
          <a:xfrm>
            <a:off x="0" y="0"/>
            <a:ext cx="4222200" cy="5143500"/>
          </a:xfrm>
          <a:prstGeom prst="rect">
            <a:avLst/>
          </a:prstGeom>
          <a:solidFill>
            <a:srgbClr val="1F3E51"/>
          </a:solidFill>
          <a:ln cap="flat" cmpd="sng" w="9525">
            <a:solidFill>
              <a:srgbClr val="1F3E5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6"/>
          <p:cNvSpPr txBox="1"/>
          <p:nvPr/>
        </p:nvSpPr>
        <p:spPr>
          <a:xfrm>
            <a:off x="4402425" y="894000"/>
            <a:ext cx="4438800" cy="3507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Poppins"/>
                <a:ea typeface="Poppins"/>
                <a:cs typeface="Poppins"/>
                <a:sym typeface="Poppins"/>
              </a:rPr>
              <a:t>Allowed Title IV-E to be used for in-home programming, including parenting services, substance abuse prevention, and mental health treatment</a:t>
            </a:r>
            <a:endParaRPr>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Poppins"/>
                <a:ea typeface="Poppins"/>
                <a:cs typeface="Poppins"/>
                <a:sym typeface="Poppins"/>
              </a:rPr>
              <a:t>Expanded eligible prevention services to also include those aimed at parents and kinship providers</a:t>
            </a:r>
            <a:endParaRPr>
              <a:solidFill>
                <a:schemeClr val="dk1"/>
              </a:solidFill>
              <a:latin typeface="Poppins"/>
              <a:ea typeface="Poppins"/>
              <a:cs typeface="Poppins"/>
              <a:sym typeface="Poppins"/>
            </a:endParaRPr>
          </a:p>
        </p:txBody>
      </p:sp>
      <p:sp>
        <p:nvSpPr>
          <p:cNvPr id="72" name="Google Shape;72;p16"/>
          <p:cNvSpPr txBox="1"/>
          <p:nvPr/>
        </p:nvSpPr>
        <p:spPr>
          <a:xfrm>
            <a:off x="622650" y="1713000"/>
            <a:ext cx="2976900" cy="171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100">
                <a:solidFill>
                  <a:srgbClr val="9ECEE8"/>
                </a:solidFill>
                <a:latin typeface="Poppins"/>
                <a:ea typeface="Poppins"/>
                <a:cs typeface="Poppins"/>
                <a:sym typeface="Poppins"/>
              </a:rPr>
              <a:t>FFPSA (2018) shifted the focus of child welfare policy towards prevention</a:t>
            </a:r>
            <a:endParaRPr b="1" sz="2100">
              <a:solidFill>
                <a:srgbClr val="9ECEE8"/>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nvSpPr>
        <p:spPr>
          <a:xfrm>
            <a:off x="-52100" y="217000"/>
            <a:ext cx="91440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600"/>
              <a:buFont typeface="Arial"/>
              <a:buNone/>
            </a:pPr>
            <a:r>
              <a:rPr b="1" lang="en" sz="1900">
                <a:solidFill>
                  <a:srgbClr val="1F3E51"/>
                </a:solidFill>
                <a:latin typeface="Poppins"/>
                <a:ea typeface="Poppins"/>
                <a:cs typeface="Poppins"/>
                <a:sym typeface="Poppins"/>
              </a:rPr>
              <a:t>Nationwide data* shows the marked change since FFPSA</a:t>
            </a:r>
            <a:endParaRPr b="1" i="0" sz="1900" u="none" cap="none" strike="noStrike">
              <a:solidFill>
                <a:srgbClr val="1F3E51"/>
              </a:solidFill>
              <a:latin typeface="Poppins"/>
              <a:ea typeface="Poppins"/>
              <a:cs typeface="Poppins"/>
              <a:sym typeface="Poppins"/>
            </a:endParaRPr>
          </a:p>
        </p:txBody>
      </p:sp>
      <p:pic>
        <p:nvPicPr>
          <p:cNvPr id="78" name="Google Shape;78;p17"/>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graphicFrame>
        <p:nvGraphicFramePr>
          <p:cNvPr id="79" name="Google Shape;79;p17"/>
          <p:cNvGraphicFramePr/>
          <p:nvPr/>
        </p:nvGraphicFramePr>
        <p:xfrm>
          <a:off x="579718" y="886611"/>
          <a:ext cx="3000000" cy="3000000"/>
        </p:xfrm>
        <a:graphic>
          <a:graphicData uri="http://schemas.openxmlformats.org/drawingml/2006/table">
            <a:tbl>
              <a:tblPr>
                <a:noFill/>
                <a:tableStyleId>{5762666F-9206-4AE4-8F2C-4B9C192C2A89}</a:tableStyleId>
              </a:tblPr>
              <a:tblGrid>
                <a:gridCol w="1180875"/>
                <a:gridCol w="2015875"/>
                <a:gridCol w="1880150"/>
              </a:tblGrid>
              <a:tr h="396225">
                <a:tc>
                  <a:txBody>
                    <a:bodyPr/>
                    <a:lstStyle/>
                    <a:p>
                      <a:pPr indent="0" lvl="0" marL="0" marR="0" rtl="0" algn="ctr">
                        <a:lnSpc>
                          <a:spcPct val="100000"/>
                        </a:lnSpc>
                        <a:spcBef>
                          <a:spcPts val="0"/>
                        </a:spcBef>
                        <a:spcAft>
                          <a:spcPts val="0"/>
                        </a:spcAft>
                        <a:buClr>
                          <a:srgbClr val="000000"/>
                        </a:buClr>
                        <a:buSzPts val="1000"/>
                        <a:buFont typeface="Arial"/>
                        <a:buNone/>
                      </a:pPr>
                      <a:r>
                        <a:rPr b="1" lang="en" sz="1100">
                          <a:latin typeface="Poppins"/>
                          <a:ea typeface="Poppins"/>
                          <a:cs typeface="Poppins"/>
                          <a:sym typeface="Poppins"/>
                        </a:rPr>
                        <a:t>Year</a:t>
                      </a:r>
                      <a:endParaRPr b="1" sz="11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rPr b="1" lang="en" sz="1100">
                          <a:solidFill>
                            <a:schemeClr val="dk1"/>
                          </a:solidFill>
                          <a:latin typeface="Poppins"/>
                          <a:ea typeface="Poppins"/>
                          <a:cs typeface="Poppins"/>
                          <a:sym typeface="Poppins"/>
                        </a:rPr>
                        <a:t>Children in Foster Care</a:t>
                      </a:r>
                      <a:endParaRPr b="1" sz="1100">
                        <a:solidFill>
                          <a:schemeClr val="dk1"/>
                        </a:solidFill>
                        <a:latin typeface="Poppins"/>
                        <a:ea typeface="Poppins"/>
                        <a:cs typeface="Poppins"/>
                        <a:sym typeface="Poppins"/>
                      </a:endParaRPr>
                    </a:p>
                  </a:txBody>
                  <a:tcPr marT="91425" marB="91425" marR="91425" marL="9142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dk1"/>
                          </a:solidFill>
                          <a:latin typeface="Poppins"/>
                          <a:ea typeface="Poppins"/>
                          <a:cs typeface="Poppins"/>
                          <a:sym typeface="Poppins"/>
                        </a:rPr>
                        <a:t>Entries into Foster Care</a:t>
                      </a:r>
                      <a:endParaRPr b="1" sz="1100">
                        <a:solidFill>
                          <a:schemeClr val="dk1"/>
                        </a:solidFill>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396225">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Poppins"/>
                          <a:ea typeface="Poppins"/>
                          <a:cs typeface="Poppins"/>
                          <a:sym typeface="Poppins"/>
                        </a:rPr>
                        <a:t>2016</a:t>
                      </a:r>
                      <a:endParaRPr sz="10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429,961</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273,174</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2017</a:t>
                      </a:r>
                      <a:endParaRPr sz="10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436,552</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270,200</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Clr>
                          <a:srgbClr val="000000"/>
                        </a:buClr>
                        <a:buSzPts val="1100"/>
                        <a:buFont typeface="Arial"/>
                        <a:buNone/>
                      </a:pPr>
                      <a:r>
                        <a:rPr lang="en" sz="1000">
                          <a:latin typeface="Poppins"/>
                          <a:ea typeface="Poppins"/>
                          <a:cs typeface="Poppins"/>
                          <a:sym typeface="Poppins"/>
                        </a:rPr>
                        <a:t>2018</a:t>
                      </a:r>
                      <a:endParaRPr sz="10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434,909</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262,902</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2019</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426,566</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252,352</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2020</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407,493</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216,838</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2021</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391,641</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206,867</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2022</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368,530</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186,602</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2023</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340,069</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174,121</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2024</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328,963</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170,955</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alpha val="0"/>
                        </a:srgbClr>
                      </a:solidFill>
                      <a:prstDash val="solid"/>
                      <a:round/>
                      <a:headEnd len="sm" w="sm" type="none"/>
                      <a:tailEnd len="sm" w="sm" type="none"/>
                    </a:lnB>
                  </a:tcPr>
                </a:tc>
              </a:tr>
            </a:tbl>
          </a:graphicData>
        </a:graphic>
      </p:graphicFrame>
      <p:sp>
        <p:nvSpPr>
          <p:cNvPr id="80" name="Google Shape;80;p17"/>
          <p:cNvSpPr/>
          <p:nvPr/>
        </p:nvSpPr>
        <p:spPr>
          <a:xfrm>
            <a:off x="0" y="4873825"/>
            <a:ext cx="7796100" cy="269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 sz="800">
                <a:solidFill>
                  <a:srgbClr val="444746"/>
                </a:solidFill>
              </a:rPr>
              <a:t>* Source: AFCARS database: </a:t>
            </a:r>
            <a:r>
              <a:rPr lang="en" sz="800" u="sng">
                <a:solidFill>
                  <a:schemeClr val="hlink"/>
                </a:solidFill>
                <a:hlinkClick r:id="rId4"/>
              </a:rPr>
              <a:t>https://tableau-public.acf.gov/views/afcars_dashboard_main_page/mainpage</a:t>
            </a:r>
            <a:r>
              <a:rPr lang="en" sz="800">
                <a:solidFill>
                  <a:srgbClr val="444746"/>
                </a:solidFill>
              </a:rPr>
              <a:t> </a:t>
            </a:r>
            <a:endParaRPr sz="800">
              <a:solidFill>
                <a:srgbClr val="44474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nvSpPr>
        <p:spPr>
          <a:xfrm>
            <a:off x="-52100" y="217000"/>
            <a:ext cx="91440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600"/>
              <a:buFont typeface="Arial"/>
              <a:buNone/>
            </a:pPr>
            <a:r>
              <a:rPr b="1" lang="en" sz="1900">
                <a:solidFill>
                  <a:srgbClr val="1F3E51"/>
                </a:solidFill>
                <a:latin typeface="Poppins"/>
                <a:ea typeface="Poppins"/>
                <a:cs typeface="Poppins"/>
                <a:sym typeface="Poppins"/>
              </a:rPr>
              <a:t>Nationwide data* shows the marked change since FFPSA</a:t>
            </a:r>
            <a:endParaRPr b="1" i="0" sz="1900" u="none" cap="none" strike="noStrike">
              <a:solidFill>
                <a:srgbClr val="1F3E51"/>
              </a:solidFill>
              <a:latin typeface="Poppins"/>
              <a:ea typeface="Poppins"/>
              <a:cs typeface="Poppins"/>
              <a:sym typeface="Poppins"/>
            </a:endParaRPr>
          </a:p>
        </p:txBody>
      </p:sp>
      <p:pic>
        <p:nvPicPr>
          <p:cNvPr id="86" name="Google Shape;86;p18"/>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graphicFrame>
        <p:nvGraphicFramePr>
          <p:cNvPr id="87" name="Google Shape;87;p18"/>
          <p:cNvGraphicFramePr/>
          <p:nvPr/>
        </p:nvGraphicFramePr>
        <p:xfrm>
          <a:off x="579718" y="886611"/>
          <a:ext cx="3000000" cy="3000000"/>
        </p:xfrm>
        <a:graphic>
          <a:graphicData uri="http://schemas.openxmlformats.org/drawingml/2006/table">
            <a:tbl>
              <a:tblPr>
                <a:noFill/>
                <a:tableStyleId>{5762666F-9206-4AE4-8F2C-4B9C192C2A89}</a:tableStyleId>
              </a:tblPr>
              <a:tblGrid>
                <a:gridCol w="1180875"/>
                <a:gridCol w="2015875"/>
                <a:gridCol w="1880150"/>
              </a:tblGrid>
              <a:tr h="396225">
                <a:tc>
                  <a:txBody>
                    <a:bodyPr/>
                    <a:lstStyle/>
                    <a:p>
                      <a:pPr indent="0" lvl="0" marL="0" marR="0" rtl="0" algn="ctr">
                        <a:lnSpc>
                          <a:spcPct val="100000"/>
                        </a:lnSpc>
                        <a:spcBef>
                          <a:spcPts val="0"/>
                        </a:spcBef>
                        <a:spcAft>
                          <a:spcPts val="0"/>
                        </a:spcAft>
                        <a:buClr>
                          <a:srgbClr val="000000"/>
                        </a:buClr>
                        <a:buSzPts val="1000"/>
                        <a:buFont typeface="Arial"/>
                        <a:buNone/>
                      </a:pPr>
                      <a:r>
                        <a:rPr b="1" lang="en" sz="1100">
                          <a:latin typeface="Poppins"/>
                          <a:ea typeface="Poppins"/>
                          <a:cs typeface="Poppins"/>
                          <a:sym typeface="Poppins"/>
                        </a:rPr>
                        <a:t>Year</a:t>
                      </a:r>
                      <a:endParaRPr b="1" sz="11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rPr b="1" lang="en" sz="1100">
                          <a:solidFill>
                            <a:schemeClr val="dk1"/>
                          </a:solidFill>
                          <a:latin typeface="Poppins"/>
                          <a:ea typeface="Poppins"/>
                          <a:cs typeface="Poppins"/>
                          <a:sym typeface="Poppins"/>
                        </a:rPr>
                        <a:t>Children in Foster Care</a:t>
                      </a:r>
                      <a:endParaRPr b="1" sz="1100">
                        <a:solidFill>
                          <a:schemeClr val="dk1"/>
                        </a:solidFill>
                        <a:latin typeface="Poppins"/>
                        <a:ea typeface="Poppins"/>
                        <a:cs typeface="Poppins"/>
                        <a:sym typeface="Poppins"/>
                      </a:endParaRPr>
                    </a:p>
                  </a:txBody>
                  <a:tcPr marT="91425" marB="91425" marR="91425" marL="9142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dk1"/>
                          </a:solidFill>
                          <a:latin typeface="Poppins"/>
                          <a:ea typeface="Poppins"/>
                          <a:cs typeface="Poppins"/>
                          <a:sym typeface="Poppins"/>
                        </a:rPr>
                        <a:t>Entries into Foster Care</a:t>
                      </a:r>
                      <a:endParaRPr b="1" sz="1100">
                        <a:solidFill>
                          <a:schemeClr val="dk1"/>
                        </a:solidFill>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396225">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Poppins"/>
                          <a:ea typeface="Poppins"/>
                          <a:cs typeface="Poppins"/>
                          <a:sym typeface="Poppins"/>
                        </a:rPr>
                        <a:t>2016</a:t>
                      </a:r>
                      <a:endParaRPr sz="10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429,961</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273,174</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2017</a:t>
                      </a:r>
                      <a:endParaRPr sz="10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436,552</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270,200</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Clr>
                          <a:srgbClr val="000000"/>
                        </a:buClr>
                        <a:buSzPts val="1100"/>
                        <a:buFont typeface="Arial"/>
                        <a:buNone/>
                      </a:pPr>
                      <a:r>
                        <a:rPr lang="en" sz="1000">
                          <a:latin typeface="Poppins"/>
                          <a:ea typeface="Poppins"/>
                          <a:cs typeface="Poppins"/>
                          <a:sym typeface="Poppins"/>
                        </a:rPr>
                        <a:t>2018</a:t>
                      </a:r>
                      <a:endParaRPr sz="10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434,909</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38100">
                      <a:solidFill>
                        <a:srgbClr val="F29E18"/>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262,902</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2019</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426,566</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38100">
                      <a:solidFill>
                        <a:srgbClr val="F29E18"/>
                      </a:solidFill>
                      <a:prstDash val="solid"/>
                      <a:round/>
                      <a:headEnd len="sm" w="sm" type="none"/>
                      <a:tailEnd len="sm" w="sm" type="none"/>
                    </a:lnR>
                    <a:lnT cap="flat" cmpd="sng" w="38100">
                      <a:solidFill>
                        <a:srgbClr val="F29E18"/>
                      </a:solidFill>
                      <a:prstDash val="solid"/>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252,352</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2020</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407,493</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216,838</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2021</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391,641</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206,867</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2022</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368,530</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186,602</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2023</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340,069</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174,121</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2024</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328,963</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38100">
                      <a:solidFill>
                        <a:srgbClr val="F29E18"/>
                      </a:solidFill>
                      <a:prstDash val="solid"/>
                      <a:round/>
                      <a:headEnd len="sm" w="sm" type="none"/>
                      <a:tailEnd len="sm" w="sm" type="none"/>
                    </a:lnR>
                    <a:lnT cap="flat" cmpd="sng" w="9525">
                      <a:solidFill>
                        <a:srgbClr val="1F3E51"/>
                      </a:solidFill>
                      <a:prstDash val="dash"/>
                      <a:round/>
                      <a:headEnd len="sm" w="sm" type="none"/>
                      <a:tailEnd len="sm" w="sm" type="none"/>
                    </a:lnT>
                    <a:lnB cap="flat" cmpd="sng" w="38100">
                      <a:solidFill>
                        <a:srgbClr val="F29E18"/>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170,955</a:t>
                      </a:r>
                      <a:endParaRPr sz="1000">
                        <a:latin typeface="Poppins"/>
                        <a:ea typeface="Poppins"/>
                        <a:cs typeface="Poppins"/>
                        <a:sym typeface="Poppins"/>
                      </a:endParaRPr>
                    </a:p>
                  </a:txBody>
                  <a:tcPr marT="91425" marB="91425" marR="68575" marL="68575" anchor="ctr">
                    <a:lnL cap="flat" cmpd="sng" w="38100">
                      <a:solidFill>
                        <a:srgbClr val="F29E18"/>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alpha val="0"/>
                        </a:srgbClr>
                      </a:solidFill>
                      <a:prstDash val="solid"/>
                      <a:round/>
                      <a:headEnd len="sm" w="sm" type="none"/>
                      <a:tailEnd len="sm" w="sm" type="none"/>
                    </a:lnB>
                  </a:tcPr>
                </a:tc>
              </a:tr>
            </a:tbl>
          </a:graphicData>
        </a:graphic>
      </p:graphicFrame>
      <p:sp>
        <p:nvSpPr>
          <p:cNvPr id="88" name="Google Shape;88;p18"/>
          <p:cNvSpPr/>
          <p:nvPr/>
        </p:nvSpPr>
        <p:spPr>
          <a:xfrm>
            <a:off x="0" y="4873825"/>
            <a:ext cx="7796100" cy="269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 sz="800">
                <a:solidFill>
                  <a:srgbClr val="444746"/>
                </a:solidFill>
              </a:rPr>
              <a:t>* Source: AFCARS database: </a:t>
            </a:r>
            <a:r>
              <a:rPr lang="en" sz="800" u="sng">
                <a:solidFill>
                  <a:schemeClr val="hlink"/>
                </a:solidFill>
                <a:hlinkClick r:id="rId4"/>
              </a:rPr>
              <a:t>https://tableau-public.acf.gov/views/afcars_dashboard_main_page/mainpage</a:t>
            </a:r>
            <a:r>
              <a:rPr lang="en" sz="800">
                <a:solidFill>
                  <a:srgbClr val="444746"/>
                </a:solidFill>
              </a:rPr>
              <a:t> </a:t>
            </a:r>
            <a:endParaRPr sz="800">
              <a:solidFill>
                <a:srgbClr val="444746"/>
              </a:solidFill>
            </a:endParaRPr>
          </a:p>
        </p:txBody>
      </p:sp>
      <p:sp>
        <p:nvSpPr>
          <p:cNvPr id="89" name="Google Shape;89;p18"/>
          <p:cNvSpPr txBox="1"/>
          <p:nvPr/>
        </p:nvSpPr>
        <p:spPr>
          <a:xfrm>
            <a:off x="6199025" y="1282825"/>
            <a:ext cx="2594100" cy="15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29E18"/>
                </a:solidFill>
                <a:latin typeface="Poppins"/>
                <a:ea typeface="Poppins"/>
                <a:cs typeface="Poppins"/>
                <a:sym typeface="Poppins"/>
              </a:rPr>
              <a:t>The total number of children in foster care has declined by nearly 25%...</a:t>
            </a:r>
            <a:endParaRPr b="1" sz="1800">
              <a:solidFill>
                <a:srgbClr val="F29E18"/>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nvSpPr>
        <p:spPr>
          <a:xfrm>
            <a:off x="-52100" y="217000"/>
            <a:ext cx="9144000" cy="4770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chemeClr val="dk1"/>
              </a:buClr>
              <a:buSzPts val="1600"/>
              <a:buFont typeface="Arial"/>
              <a:buNone/>
            </a:pPr>
            <a:r>
              <a:rPr b="1" lang="en" sz="1900">
                <a:solidFill>
                  <a:srgbClr val="1F3E51"/>
                </a:solidFill>
                <a:latin typeface="Poppins"/>
                <a:ea typeface="Poppins"/>
                <a:cs typeface="Poppins"/>
                <a:sym typeface="Poppins"/>
              </a:rPr>
              <a:t>Nationwide data* shows the marked change since FFPSA</a:t>
            </a:r>
            <a:endParaRPr b="1" i="0" sz="1900" u="none" cap="none" strike="noStrike">
              <a:solidFill>
                <a:srgbClr val="1F3E51"/>
              </a:solidFill>
              <a:latin typeface="Poppins"/>
              <a:ea typeface="Poppins"/>
              <a:cs typeface="Poppins"/>
              <a:sym typeface="Poppins"/>
            </a:endParaRPr>
          </a:p>
        </p:txBody>
      </p:sp>
      <p:pic>
        <p:nvPicPr>
          <p:cNvPr id="95" name="Google Shape;95;p19"/>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graphicFrame>
        <p:nvGraphicFramePr>
          <p:cNvPr id="96" name="Google Shape;96;p19"/>
          <p:cNvGraphicFramePr/>
          <p:nvPr/>
        </p:nvGraphicFramePr>
        <p:xfrm>
          <a:off x="579718" y="886611"/>
          <a:ext cx="3000000" cy="3000000"/>
        </p:xfrm>
        <a:graphic>
          <a:graphicData uri="http://schemas.openxmlformats.org/drawingml/2006/table">
            <a:tbl>
              <a:tblPr>
                <a:noFill/>
                <a:tableStyleId>{5762666F-9206-4AE4-8F2C-4B9C192C2A89}</a:tableStyleId>
              </a:tblPr>
              <a:tblGrid>
                <a:gridCol w="1180875"/>
                <a:gridCol w="2015875"/>
                <a:gridCol w="1880150"/>
              </a:tblGrid>
              <a:tr h="396225">
                <a:tc>
                  <a:txBody>
                    <a:bodyPr/>
                    <a:lstStyle/>
                    <a:p>
                      <a:pPr indent="0" lvl="0" marL="0" marR="0" rtl="0" algn="ctr">
                        <a:lnSpc>
                          <a:spcPct val="100000"/>
                        </a:lnSpc>
                        <a:spcBef>
                          <a:spcPts val="0"/>
                        </a:spcBef>
                        <a:spcAft>
                          <a:spcPts val="0"/>
                        </a:spcAft>
                        <a:buClr>
                          <a:srgbClr val="000000"/>
                        </a:buClr>
                        <a:buSzPts val="1000"/>
                        <a:buFont typeface="Arial"/>
                        <a:buNone/>
                      </a:pPr>
                      <a:r>
                        <a:rPr b="1" lang="en" sz="1100">
                          <a:latin typeface="Poppins"/>
                          <a:ea typeface="Poppins"/>
                          <a:cs typeface="Poppins"/>
                          <a:sym typeface="Poppins"/>
                        </a:rPr>
                        <a:t>Year</a:t>
                      </a:r>
                      <a:endParaRPr b="1" sz="11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000"/>
                        <a:buFont typeface="Arial"/>
                        <a:buNone/>
                      </a:pPr>
                      <a:r>
                        <a:rPr b="1" lang="en" sz="1100">
                          <a:solidFill>
                            <a:schemeClr val="dk1"/>
                          </a:solidFill>
                          <a:latin typeface="Poppins"/>
                          <a:ea typeface="Poppins"/>
                          <a:cs typeface="Poppins"/>
                          <a:sym typeface="Poppins"/>
                        </a:rPr>
                        <a:t>Children in Foster Care</a:t>
                      </a:r>
                      <a:endParaRPr b="1" sz="1100">
                        <a:solidFill>
                          <a:schemeClr val="dk1"/>
                        </a:solidFill>
                        <a:latin typeface="Poppins"/>
                        <a:ea typeface="Poppins"/>
                        <a:cs typeface="Poppins"/>
                        <a:sym typeface="Poppins"/>
                      </a:endParaRPr>
                    </a:p>
                  </a:txBody>
                  <a:tcPr marT="91425" marB="91425" marR="91425" marL="9142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lang="en" sz="1100">
                          <a:solidFill>
                            <a:schemeClr val="dk1"/>
                          </a:solidFill>
                          <a:latin typeface="Poppins"/>
                          <a:ea typeface="Poppins"/>
                          <a:cs typeface="Poppins"/>
                          <a:sym typeface="Poppins"/>
                        </a:rPr>
                        <a:t>Entries into Foster Care</a:t>
                      </a:r>
                      <a:endParaRPr b="1" sz="1100">
                        <a:solidFill>
                          <a:schemeClr val="dk1"/>
                        </a:solidFill>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396225">
                <a:tc>
                  <a:txBody>
                    <a:bodyPr/>
                    <a:lstStyle/>
                    <a:p>
                      <a:pPr indent="0" lvl="0" marL="0" marR="0" rtl="0" algn="ctr">
                        <a:lnSpc>
                          <a:spcPct val="100000"/>
                        </a:lnSpc>
                        <a:spcBef>
                          <a:spcPts val="0"/>
                        </a:spcBef>
                        <a:spcAft>
                          <a:spcPts val="0"/>
                        </a:spcAft>
                        <a:buClr>
                          <a:srgbClr val="000000"/>
                        </a:buClr>
                        <a:buSzPts val="1000"/>
                        <a:buFont typeface="Arial"/>
                        <a:buNone/>
                      </a:pPr>
                      <a:r>
                        <a:rPr lang="en" sz="1000">
                          <a:latin typeface="Poppins"/>
                          <a:ea typeface="Poppins"/>
                          <a:cs typeface="Poppins"/>
                          <a:sym typeface="Poppins"/>
                        </a:rPr>
                        <a:t>2016</a:t>
                      </a:r>
                      <a:endParaRPr sz="10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429,961</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273,174</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2017</a:t>
                      </a:r>
                      <a:endParaRPr sz="10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436,552</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270,200</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Clr>
                          <a:srgbClr val="000000"/>
                        </a:buClr>
                        <a:buSzPts val="1100"/>
                        <a:buFont typeface="Arial"/>
                        <a:buNone/>
                      </a:pPr>
                      <a:r>
                        <a:rPr lang="en" sz="1000">
                          <a:latin typeface="Poppins"/>
                          <a:ea typeface="Poppins"/>
                          <a:cs typeface="Poppins"/>
                          <a:sym typeface="Poppins"/>
                        </a:rPr>
                        <a:t>2018</a:t>
                      </a:r>
                      <a:endParaRPr sz="1000" u="none" cap="none" strike="noStrike">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434,909</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262,902</a:t>
                      </a:r>
                      <a:endParaRPr sz="1000">
                        <a:latin typeface="Poppins"/>
                        <a:ea typeface="Poppins"/>
                        <a:cs typeface="Poppins"/>
                        <a:sym typeface="Poppins"/>
                      </a:endParaRPr>
                    </a:p>
                  </a:txBody>
                  <a:tcPr marT="91425" marB="91425" marR="68575" marL="685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1F3E51"/>
                      </a:solidFill>
                      <a:prstDash val="dash"/>
                      <a:round/>
                      <a:headEnd len="sm" w="sm" type="none"/>
                      <a:tailEnd len="sm" w="sm" type="none"/>
                    </a:lnT>
                    <a:lnB cap="flat" cmpd="sng" w="38100">
                      <a:solidFill>
                        <a:srgbClr val="9ECEE8"/>
                      </a:solidFill>
                      <a:prstDash val="solid"/>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2019</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426,566</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252,352</a:t>
                      </a:r>
                      <a:endParaRPr sz="1000">
                        <a:latin typeface="Poppins"/>
                        <a:ea typeface="Poppins"/>
                        <a:cs typeface="Poppins"/>
                        <a:sym typeface="Poppins"/>
                      </a:endParaRPr>
                    </a:p>
                  </a:txBody>
                  <a:tcPr marT="91425" marB="91425" marR="68575" marL="68575" anchor="ctr">
                    <a:lnL cap="flat" cmpd="sng" w="38100">
                      <a:solidFill>
                        <a:srgbClr val="9ECEE8"/>
                      </a:solidFill>
                      <a:prstDash val="solid"/>
                      <a:round/>
                      <a:headEnd len="sm" w="sm" type="none"/>
                      <a:tailEnd len="sm" w="sm" type="none"/>
                    </a:lnL>
                    <a:lnR cap="flat" cmpd="sng" w="38100">
                      <a:solidFill>
                        <a:srgbClr val="9ECEE8"/>
                      </a:solidFill>
                      <a:prstDash val="solid"/>
                      <a:round/>
                      <a:headEnd len="sm" w="sm" type="none"/>
                      <a:tailEnd len="sm" w="sm" type="none"/>
                    </a:lnR>
                    <a:lnT cap="flat" cmpd="sng" w="38100">
                      <a:solidFill>
                        <a:srgbClr val="9ECEE8"/>
                      </a:solidFill>
                      <a:prstDash val="solid"/>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2020</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407,493</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216,838</a:t>
                      </a:r>
                      <a:endParaRPr sz="1000">
                        <a:latin typeface="Poppins"/>
                        <a:ea typeface="Poppins"/>
                        <a:cs typeface="Poppins"/>
                        <a:sym typeface="Poppins"/>
                      </a:endParaRPr>
                    </a:p>
                  </a:txBody>
                  <a:tcPr marT="91425" marB="91425" marR="68575" marL="68575" anchor="ctr">
                    <a:lnL cap="flat" cmpd="sng" w="38100">
                      <a:solidFill>
                        <a:srgbClr val="9ECEE8"/>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2021</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391,641</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206,867</a:t>
                      </a:r>
                      <a:endParaRPr sz="1000">
                        <a:latin typeface="Poppins"/>
                        <a:ea typeface="Poppins"/>
                        <a:cs typeface="Poppins"/>
                        <a:sym typeface="Poppins"/>
                      </a:endParaRPr>
                    </a:p>
                  </a:txBody>
                  <a:tcPr marT="91425" marB="91425" marR="68575" marL="68575" anchor="ctr">
                    <a:lnL cap="flat" cmpd="sng" w="38100">
                      <a:solidFill>
                        <a:srgbClr val="9ECEE8"/>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2022</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368,530</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186,602</a:t>
                      </a:r>
                      <a:endParaRPr sz="1000">
                        <a:latin typeface="Poppins"/>
                        <a:ea typeface="Poppins"/>
                        <a:cs typeface="Poppins"/>
                        <a:sym typeface="Poppins"/>
                      </a:endParaRPr>
                    </a:p>
                  </a:txBody>
                  <a:tcPr marT="91425" marB="91425" marR="68575" marL="68575" anchor="ctr">
                    <a:lnL cap="flat" cmpd="sng" w="38100">
                      <a:solidFill>
                        <a:srgbClr val="9ECEE8"/>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2023</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340,069</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174,121</a:t>
                      </a:r>
                      <a:endParaRPr sz="1000">
                        <a:latin typeface="Poppins"/>
                        <a:ea typeface="Poppins"/>
                        <a:cs typeface="Poppins"/>
                        <a:sym typeface="Poppins"/>
                      </a:endParaRPr>
                    </a:p>
                  </a:txBody>
                  <a:tcPr marT="91425" marB="91425" marR="68575" marL="68575" anchor="ctr">
                    <a:lnL cap="flat" cmpd="sng" w="38100">
                      <a:solidFill>
                        <a:srgbClr val="9ECEE8"/>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solidFill>
                      <a:prstDash val="dash"/>
                      <a:round/>
                      <a:headEnd len="sm" w="sm" type="none"/>
                      <a:tailEnd len="sm" w="sm" type="none"/>
                    </a:lnB>
                  </a:tcPr>
                </a:tc>
              </a:tr>
              <a:tr h="396225">
                <a:tc>
                  <a:txBody>
                    <a:bodyPr/>
                    <a:lstStyle/>
                    <a:p>
                      <a:pPr indent="0" lvl="0" marL="0" marR="0" rtl="0" algn="ctr">
                        <a:lnSpc>
                          <a:spcPct val="100000"/>
                        </a:lnSpc>
                        <a:spcBef>
                          <a:spcPts val="0"/>
                        </a:spcBef>
                        <a:spcAft>
                          <a:spcPts val="0"/>
                        </a:spcAft>
                        <a:buNone/>
                      </a:pPr>
                      <a:r>
                        <a:rPr lang="en" sz="1000">
                          <a:latin typeface="Poppins"/>
                          <a:ea typeface="Poppins"/>
                          <a:cs typeface="Poppins"/>
                          <a:sym typeface="Poppins"/>
                        </a:rPr>
                        <a:t>2024</a:t>
                      </a:r>
                      <a:endParaRPr sz="1000">
                        <a:latin typeface="Poppins"/>
                        <a:ea typeface="Poppins"/>
                        <a:cs typeface="Poppins"/>
                        <a:sym typeface="Poppins"/>
                      </a:endParaRPr>
                    </a:p>
                  </a:txBody>
                  <a:tcPr marT="91425" marB="91425" marR="91425" marL="91425" anchor="ctr">
                    <a:lnL cap="flat" cmpd="sng" w="9525">
                      <a:solidFill>
                        <a:srgbClr val="000000">
                          <a:alpha val="0"/>
                        </a:srgbClr>
                      </a:solidFill>
                      <a:prstDash val="solid"/>
                      <a:round/>
                      <a:headEnd len="sm" w="sm" type="none"/>
                      <a:tailEnd len="sm" w="sm" type="none"/>
                    </a:lnL>
                    <a:lnR cap="flat" cmpd="sng" w="19050">
                      <a:solidFill>
                        <a:srgbClr val="1F3E51"/>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328,963</a:t>
                      </a:r>
                      <a:endParaRPr sz="1000">
                        <a:latin typeface="Poppins"/>
                        <a:ea typeface="Poppins"/>
                        <a:cs typeface="Poppins"/>
                        <a:sym typeface="Poppins"/>
                      </a:endParaRPr>
                    </a:p>
                  </a:txBody>
                  <a:tcPr marT="91425" marB="91425" marR="68575" marL="68575" anchor="ctr">
                    <a:lnL cap="flat" cmpd="sng" w="19050">
                      <a:solidFill>
                        <a:srgbClr val="1F3E51"/>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9525">
                      <a:solidFill>
                        <a:srgbClr val="1F3E51">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sz="1000">
                          <a:latin typeface="Poppins"/>
                          <a:ea typeface="Poppins"/>
                          <a:cs typeface="Poppins"/>
                          <a:sym typeface="Poppins"/>
                        </a:rPr>
                        <a:t>170,955</a:t>
                      </a:r>
                      <a:endParaRPr sz="1000">
                        <a:latin typeface="Poppins"/>
                        <a:ea typeface="Poppins"/>
                        <a:cs typeface="Poppins"/>
                        <a:sym typeface="Poppins"/>
                      </a:endParaRPr>
                    </a:p>
                  </a:txBody>
                  <a:tcPr marT="91425" marB="91425" marR="68575" marL="68575" anchor="ctr">
                    <a:lnL cap="flat" cmpd="sng" w="38100">
                      <a:solidFill>
                        <a:srgbClr val="9ECEE8"/>
                      </a:solidFill>
                      <a:prstDash val="solid"/>
                      <a:round/>
                      <a:headEnd len="sm" w="sm" type="none"/>
                      <a:tailEnd len="sm" w="sm" type="none"/>
                    </a:lnL>
                    <a:lnR cap="flat" cmpd="sng" w="38100">
                      <a:solidFill>
                        <a:srgbClr val="9ECEE8"/>
                      </a:solidFill>
                      <a:prstDash val="solid"/>
                      <a:round/>
                      <a:headEnd len="sm" w="sm" type="none"/>
                      <a:tailEnd len="sm" w="sm" type="none"/>
                    </a:lnR>
                    <a:lnT cap="flat" cmpd="sng" w="9525">
                      <a:solidFill>
                        <a:srgbClr val="1F3E51"/>
                      </a:solidFill>
                      <a:prstDash val="dash"/>
                      <a:round/>
                      <a:headEnd len="sm" w="sm" type="none"/>
                      <a:tailEnd len="sm" w="sm" type="none"/>
                    </a:lnT>
                    <a:lnB cap="flat" cmpd="sng" w="38100">
                      <a:solidFill>
                        <a:srgbClr val="9ECEE8"/>
                      </a:solidFill>
                      <a:prstDash val="solid"/>
                      <a:round/>
                      <a:headEnd len="sm" w="sm" type="none"/>
                      <a:tailEnd len="sm" w="sm" type="none"/>
                    </a:lnB>
                  </a:tcPr>
                </a:tc>
              </a:tr>
            </a:tbl>
          </a:graphicData>
        </a:graphic>
      </p:graphicFrame>
      <p:sp>
        <p:nvSpPr>
          <p:cNvPr id="97" name="Google Shape;97;p19"/>
          <p:cNvSpPr/>
          <p:nvPr/>
        </p:nvSpPr>
        <p:spPr>
          <a:xfrm>
            <a:off x="0" y="4873825"/>
            <a:ext cx="7796100" cy="269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 sz="800">
                <a:solidFill>
                  <a:srgbClr val="444746"/>
                </a:solidFill>
              </a:rPr>
              <a:t>* Source: AFCARS database: </a:t>
            </a:r>
            <a:r>
              <a:rPr lang="en" sz="800" u="sng">
                <a:solidFill>
                  <a:schemeClr val="hlink"/>
                </a:solidFill>
                <a:hlinkClick r:id="rId4"/>
              </a:rPr>
              <a:t>https://tableau-public.acf.gov/views/afcars_dashboard_main_page/mainpage</a:t>
            </a:r>
            <a:r>
              <a:rPr lang="en" sz="800">
                <a:solidFill>
                  <a:srgbClr val="444746"/>
                </a:solidFill>
              </a:rPr>
              <a:t> </a:t>
            </a:r>
            <a:endParaRPr sz="800">
              <a:solidFill>
                <a:srgbClr val="444746"/>
              </a:solidFill>
            </a:endParaRPr>
          </a:p>
        </p:txBody>
      </p:sp>
      <p:sp>
        <p:nvSpPr>
          <p:cNvPr id="98" name="Google Shape;98;p19"/>
          <p:cNvSpPr txBox="1"/>
          <p:nvPr/>
        </p:nvSpPr>
        <p:spPr>
          <a:xfrm>
            <a:off x="6199025" y="2934325"/>
            <a:ext cx="2594100" cy="15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ECEE8"/>
                </a:solidFill>
                <a:latin typeface="Poppins"/>
                <a:ea typeface="Poppins"/>
                <a:cs typeface="Poppins"/>
                <a:sym typeface="Poppins"/>
              </a:rPr>
              <a:t>…while new</a:t>
            </a:r>
            <a:r>
              <a:rPr b="1" lang="en" sz="1800">
                <a:solidFill>
                  <a:srgbClr val="9ECEE8"/>
                </a:solidFill>
                <a:latin typeface="Poppins"/>
                <a:ea typeface="Poppins"/>
                <a:cs typeface="Poppins"/>
                <a:sym typeface="Poppins"/>
              </a:rPr>
              <a:t> entries into foster care have decreased by over a third since FFPSA was enacted</a:t>
            </a:r>
            <a:endParaRPr b="1" sz="1800">
              <a:solidFill>
                <a:srgbClr val="9ECEE8"/>
              </a:solidFill>
              <a:latin typeface="Poppins"/>
              <a:ea typeface="Poppins"/>
              <a:cs typeface="Poppins"/>
              <a:sym typeface="Poppins"/>
            </a:endParaRPr>
          </a:p>
        </p:txBody>
      </p:sp>
      <p:sp>
        <p:nvSpPr>
          <p:cNvPr id="99" name="Google Shape;99;p19"/>
          <p:cNvSpPr txBox="1"/>
          <p:nvPr/>
        </p:nvSpPr>
        <p:spPr>
          <a:xfrm>
            <a:off x="6199025" y="1282825"/>
            <a:ext cx="2594100" cy="151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29E18"/>
                </a:solidFill>
                <a:latin typeface="Poppins"/>
                <a:ea typeface="Poppins"/>
                <a:cs typeface="Poppins"/>
                <a:sym typeface="Poppins"/>
              </a:rPr>
              <a:t>The total number of children in foster care has declined by nearly 25%...</a:t>
            </a:r>
            <a:endParaRPr b="1" sz="1800">
              <a:solidFill>
                <a:srgbClr val="F29E18"/>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nvSpPr>
        <p:spPr>
          <a:xfrm>
            <a:off x="0" y="601625"/>
            <a:ext cx="91440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2100"/>
              <a:buFont typeface="Arial"/>
              <a:buNone/>
            </a:pPr>
            <a:r>
              <a:rPr b="1" lang="en" sz="1900">
                <a:solidFill>
                  <a:srgbClr val="1F3E51"/>
                </a:solidFill>
                <a:latin typeface="Poppins"/>
                <a:ea typeface="Poppins"/>
                <a:cs typeface="Poppins"/>
                <a:sym typeface="Poppins"/>
              </a:rPr>
              <a:t>The shift towards prevention has also brought new challenges</a:t>
            </a:r>
            <a:endParaRPr b="1" sz="1900">
              <a:solidFill>
                <a:srgbClr val="1F3E51"/>
              </a:solidFill>
              <a:latin typeface="Poppins"/>
              <a:ea typeface="Poppins"/>
              <a:cs typeface="Poppins"/>
              <a:sym typeface="Poppins"/>
            </a:endParaRPr>
          </a:p>
        </p:txBody>
      </p:sp>
      <p:sp>
        <p:nvSpPr>
          <p:cNvPr id="105" name="Google Shape;105;p20"/>
          <p:cNvSpPr/>
          <p:nvPr/>
        </p:nvSpPr>
        <p:spPr>
          <a:xfrm>
            <a:off x="6115475" y="2564250"/>
            <a:ext cx="1541700" cy="63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b="1" lang="en" sz="1600">
                <a:solidFill>
                  <a:srgbClr val="1F3E51"/>
                </a:solidFill>
                <a:latin typeface="Poppins"/>
                <a:ea typeface="Poppins"/>
                <a:cs typeface="Poppins"/>
                <a:sym typeface="Poppins"/>
              </a:rPr>
              <a:t>Child Needs</a:t>
            </a:r>
            <a:endParaRPr b="1" sz="1600">
              <a:solidFill>
                <a:srgbClr val="1F3E51"/>
              </a:solidFill>
              <a:latin typeface="Poppins"/>
              <a:ea typeface="Poppins"/>
              <a:cs typeface="Poppins"/>
              <a:sym typeface="Poppins"/>
            </a:endParaRPr>
          </a:p>
        </p:txBody>
      </p:sp>
      <p:sp>
        <p:nvSpPr>
          <p:cNvPr id="106" name="Google Shape;106;p20"/>
          <p:cNvSpPr/>
          <p:nvPr/>
        </p:nvSpPr>
        <p:spPr>
          <a:xfrm>
            <a:off x="1963475" y="2564238"/>
            <a:ext cx="1541700" cy="636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400"/>
              <a:buFont typeface="Arial"/>
              <a:buNone/>
            </a:pPr>
            <a:r>
              <a:rPr b="1" lang="en" sz="1600">
                <a:solidFill>
                  <a:srgbClr val="1F3E51"/>
                </a:solidFill>
                <a:latin typeface="Poppins"/>
                <a:ea typeface="Poppins"/>
                <a:cs typeface="Poppins"/>
                <a:sym typeface="Poppins"/>
              </a:rPr>
              <a:t>Re-Referrals</a:t>
            </a:r>
            <a:endParaRPr b="1" sz="1600">
              <a:solidFill>
                <a:srgbClr val="1F3E51"/>
              </a:solidFill>
              <a:latin typeface="Poppins"/>
              <a:ea typeface="Poppins"/>
              <a:cs typeface="Poppins"/>
              <a:sym typeface="Poppins"/>
            </a:endParaRPr>
          </a:p>
        </p:txBody>
      </p:sp>
      <p:sp>
        <p:nvSpPr>
          <p:cNvPr id="107" name="Google Shape;107;p20"/>
          <p:cNvSpPr/>
          <p:nvPr/>
        </p:nvSpPr>
        <p:spPr>
          <a:xfrm>
            <a:off x="1338425" y="3095325"/>
            <a:ext cx="2791800" cy="154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latin typeface="Poppins"/>
                <a:ea typeface="Poppins"/>
                <a:cs typeface="Poppins"/>
                <a:sym typeface="Poppins"/>
              </a:rPr>
              <a:t>An increase in the number of children being re-referred to child welfare hotlines multiple times</a:t>
            </a:r>
            <a:endParaRPr sz="1100">
              <a:solidFill>
                <a:schemeClr val="dk1"/>
              </a:solidFill>
              <a:latin typeface="Poppins"/>
              <a:ea typeface="Poppins"/>
              <a:cs typeface="Poppins"/>
              <a:sym typeface="Poppins"/>
            </a:endParaRPr>
          </a:p>
        </p:txBody>
      </p:sp>
      <p:pic>
        <p:nvPicPr>
          <p:cNvPr id="108" name="Google Shape;108;p20"/>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pic>
        <p:nvPicPr>
          <p:cNvPr id="109" name="Google Shape;109;p20"/>
          <p:cNvPicPr preferRelativeResize="0"/>
          <p:nvPr/>
        </p:nvPicPr>
        <p:blipFill>
          <a:blip r:embed="rId4">
            <a:alphaModFix/>
          </a:blip>
          <a:stretch>
            <a:fillRect/>
          </a:stretch>
        </p:blipFill>
        <p:spPr>
          <a:xfrm>
            <a:off x="2277125" y="1671825"/>
            <a:ext cx="914400" cy="901882"/>
          </a:xfrm>
          <a:prstGeom prst="rect">
            <a:avLst/>
          </a:prstGeom>
          <a:noFill/>
          <a:ln>
            <a:noFill/>
          </a:ln>
        </p:spPr>
      </p:pic>
      <p:pic>
        <p:nvPicPr>
          <p:cNvPr id="110" name="Google Shape;110;p20"/>
          <p:cNvPicPr preferRelativeResize="0"/>
          <p:nvPr/>
        </p:nvPicPr>
        <p:blipFill>
          <a:blip r:embed="rId5">
            <a:alphaModFix/>
          </a:blip>
          <a:stretch>
            <a:fillRect/>
          </a:stretch>
        </p:blipFill>
        <p:spPr>
          <a:xfrm>
            <a:off x="6310100" y="1546549"/>
            <a:ext cx="1152450" cy="1152425"/>
          </a:xfrm>
          <a:prstGeom prst="rect">
            <a:avLst/>
          </a:prstGeom>
          <a:noFill/>
          <a:ln>
            <a:noFill/>
          </a:ln>
        </p:spPr>
      </p:pic>
      <p:sp>
        <p:nvSpPr>
          <p:cNvPr id="111" name="Google Shape;111;p20"/>
          <p:cNvSpPr/>
          <p:nvPr/>
        </p:nvSpPr>
        <p:spPr>
          <a:xfrm>
            <a:off x="5592850" y="3256125"/>
            <a:ext cx="2944800" cy="1218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Poppins"/>
                <a:ea typeface="Poppins"/>
                <a:cs typeface="Poppins"/>
                <a:sym typeface="Poppins"/>
              </a:rPr>
              <a:t>The population of children who </a:t>
            </a:r>
            <a:r>
              <a:rPr i="1" lang="en">
                <a:solidFill>
                  <a:schemeClr val="dk1"/>
                </a:solidFill>
                <a:latin typeface="Poppins"/>
                <a:ea typeface="Poppins"/>
                <a:cs typeface="Poppins"/>
                <a:sym typeface="Poppins"/>
              </a:rPr>
              <a:t>are</a:t>
            </a:r>
            <a:r>
              <a:rPr lang="en">
                <a:solidFill>
                  <a:schemeClr val="dk1"/>
                </a:solidFill>
                <a:latin typeface="Poppins"/>
                <a:ea typeface="Poppins"/>
                <a:cs typeface="Poppins"/>
                <a:sym typeface="Poppins"/>
              </a:rPr>
              <a:t> in foster care becoming more skewed towards those with high needs</a:t>
            </a:r>
            <a:endParaRPr sz="1100">
              <a:solidFill>
                <a:schemeClr val="dk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nvSpPr>
        <p:spPr>
          <a:xfrm>
            <a:off x="0" y="601625"/>
            <a:ext cx="91440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2100"/>
              <a:buFont typeface="Arial"/>
              <a:buNone/>
            </a:pPr>
            <a:r>
              <a:rPr b="1" lang="en" sz="1900">
                <a:solidFill>
                  <a:srgbClr val="1F3E51"/>
                </a:solidFill>
                <a:latin typeface="Poppins"/>
                <a:ea typeface="Poppins"/>
                <a:cs typeface="Poppins"/>
                <a:sym typeface="Poppins"/>
              </a:rPr>
              <a:t>The shift towards prevention has also brought new challenges</a:t>
            </a:r>
            <a:endParaRPr b="1" sz="1900">
              <a:solidFill>
                <a:srgbClr val="1F3E51"/>
              </a:solidFill>
              <a:latin typeface="Poppins"/>
              <a:ea typeface="Poppins"/>
              <a:cs typeface="Poppins"/>
              <a:sym typeface="Poppins"/>
            </a:endParaRPr>
          </a:p>
        </p:txBody>
      </p:sp>
      <p:sp>
        <p:nvSpPr>
          <p:cNvPr id="117" name="Google Shape;117;p21"/>
          <p:cNvSpPr/>
          <p:nvPr/>
        </p:nvSpPr>
        <p:spPr>
          <a:xfrm>
            <a:off x="6115475" y="2564250"/>
            <a:ext cx="1541700" cy="63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b="1" lang="en" sz="1600">
                <a:solidFill>
                  <a:srgbClr val="1F3E51"/>
                </a:solidFill>
                <a:latin typeface="Poppins"/>
                <a:ea typeface="Poppins"/>
                <a:cs typeface="Poppins"/>
                <a:sym typeface="Poppins"/>
              </a:rPr>
              <a:t>Child Needs</a:t>
            </a:r>
            <a:endParaRPr b="1" sz="1600">
              <a:solidFill>
                <a:srgbClr val="1F3E51"/>
              </a:solidFill>
              <a:latin typeface="Poppins"/>
              <a:ea typeface="Poppins"/>
              <a:cs typeface="Poppins"/>
              <a:sym typeface="Poppins"/>
            </a:endParaRPr>
          </a:p>
        </p:txBody>
      </p:sp>
      <p:sp>
        <p:nvSpPr>
          <p:cNvPr id="118" name="Google Shape;118;p21"/>
          <p:cNvSpPr/>
          <p:nvPr/>
        </p:nvSpPr>
        <p:spPr>
          <a:xfrm>
            <a:off x="1963475" y="2564238"/>
            <a:ext cx="1541700" cy="636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400"/>
              <a:buFont typeface="Arial"/>
              <a:buNone/>
            </a:pPr>
            <a:r>
              <a:rPr b="1" lang="en" sz="1600">
                <a:solidFill>
                  <a:srgbClr val="1F3E51"/>
                </a:solidFill>
                <a:latin typeface="Poppins"/>
                <a:ea typeface="Poppins"/>
                <a:cs typeface="Poppins"/>
                <a:sym typeface="Poppins"/>
              </a:rPr>
              <a:t>Re-Referrals</a:t>
            </a:r>
            <a:endParaRPr b="1" sz="1600">
              <a:solidFill>
                <a:srgbClr val="1F3E51"/>
              </a:solidFill>
              <a:latin typeface="Poppins"/>
              <a:ea typeface="Poppins"/>
              <a:cs typeface="Poppins"/>
              <a:sym typeface="Poppins"/>
            </a:endParaRPr>
          </a:p>
        </p:txBody>
      </p:sp>
      <p:sp>
        <p:nvSpPr>
          <p:cNvPr id="119" name="Google Shape;119;p21"/>
          <p:cNvSpPr/>
          <p:nvPr/>
        </p:nvSpPr>
        <p:spPr>
          <a:xfrm>
            <a:off x="1338425" y="3095325"/>
            <a:ext cx="2791800" cy="154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latin typeface="Poppins"/>
                <a:ea typeface="Poppins"/>
                <a:cs typeface="Poppins"/>
                <a:sym typeface="Poppins"/>
              </a:rPr>
              <a:t>An increase in the number of children being re-referred to child welfare hotlines multiple times</a:t>
            </a:r>
            <a:endParaRPr sz="1100">
              <a:solidFill>
                <a:schemeClr val="dk1"/>
              </a:solidFill>
              <a:latin typeface="Poppins"/>
              <a:ea typeface="Poppins"/>
              <a:cs typeface="Poppins"/>
              <a:sym typeface="Poppins"/>
            </a:endParaRPr>
          </a:p>
        </p:txBody>
      </p:sp>
      <p:pic>
        <p:nvPicPr>
          <p:cNvPr id="120" name="Google Shape;120;p21"/>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pic>
        <p:nvPicPr>
          <p:cNvPr id="121" name="Google Shape;121;p21"/>
          <p:cNvPicPr preferRelativeResize="0"/>
          <p:nvPr/>
        </p:nvPicPr>
        <p:blipFill>
          <a:blip r:embed="rId4">
            <a:alphaModFix/>
          </a:blip>
          <a:stretch>
            <a:fillRect/>
          </a:stretch>
        </p:blipFill>
        <p:spPr>
          <a:xfrm>
            <a:off x="2277125" y="1671825"/>
            <a:ext cx="914400" cy="901882"/>
          </a:xfrm>
          <a:prstGeom prst="rect">
            <a:avLst/>
          </a:prstGeom>
          <a:noFill/>
          <a:ln>
            <a:noFill/>
          </a:ln>
        </p:spPr>
      </p:pic>
      <p:pic>
        <p:nvPicPr>
          <p:cNvPr id="122" name="Google Shape;122;p21"/>
          <p:cNvPicPr preferRelativeResize="0"/>
          <p:nvPr/>
        </p:nvPicPr>
        <p:blipFill>
          <a:blip r:embed="rId5">
            <a:alphaModFix/>
          </a:blip>
          <a:stretch>
            <a:fillRect/>
          </a:stretch>
        </p:blipFill>
        <p:spPr>
          <a:xfrm>
            <a:off x="6310100" y="1546549"/>
            <a:ext cx="1152450" cy="1152425"/>
          </a:xfrm>
          <a:prstGeom prst="rect">
            <a:avLst/>
          </a:prstGeom>
          <a:noFill/>
          <a:ln>
            <a:noFill/>
          </a:ln>
        </p:spPr>
      </p:pic>
      <p:sp>
        <p:nvSpPr>
          <p:cNvPr id="123" name="Google Shape;123;p21"/>
          <p:cNvSpPr/>
          <p:nvPr/>
        </p:nvSpPr>
        <p:spPr>
          <a:xfrm>
            <a:off x="5592850" y="3256125"/>
            <a:ext cx="2944800" cy="1218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Poppins"/>
                <a:ea typeface="Poppins"/>
                <a:cs typeface="Poppins"/>
                <a:sym typeface="Poppins"/>
              </a:rPr>
              <a:t>The population of children who </a:t>
            </a:r>
            <a:r>
              <a:rPr i="1" lang="en">
                <a:solidFill>
                  <a:schemeClr val="dk1"/>
                </a:solidFill>
                <a:latin typeface="Poppins"/>
                <a:ea typeface="Poppins"/>
                <a:cs typeface="Poppins"/>
                <a:sym typeface="Poppins"/>
              </a:rPr>
              <a:t>are</a:t>
            </a:r>
            <a:r>
              <a:rPr lang="en">
                <a:solidFill>
                  <a:schemeClr val="dk1"/>
                </a:solidFill>
                <a:latin typeface="Poppins"/>
                <a:ea typeface="Poppins"/>
                <a:cs typeface="Poppins"/>
                <a:sym typeface="Poppins"/>
              </a:rPr>
              <a:t> in foster care becoming more skewed towards those with high needs</a:t>
            </a:r>
            <a:endParaRPr sz="1100">
              <a:solidFill>
                <a:schemeClr val="dk1"/>
              </a:solidFill>
              <a:latin typeface="Poppins"/>
              <a:ea typeface="Poppins"/>
              <a:cs typeface="Poppins"/>
              <a:sym typeface="Poppins"/>
            </a:endParaRPr>
          </a:p>
        </p:txBody>
      </p:sp>
      <p:sp>
        <p:nvSpPr>
          <p:cNvPr id="124" name="Google Shape;124;p21"/>
          <p:cNvSpPr/>
          <p:nvPr/>
        </p:nvSpPr>
        <p:spPr>
          <a:xfrm>
            <a:off x="4806100" y="1571925"/>
            <a:ext cx="3809400" cy="2902800"/>
          </a:xfrm>
          <a:prstGeom prst="rect">
            <a:avLst/>
          </a:prstGeom>
          <a:solidFill>
            <a:srgbClr val="FFFFFF">
              <a:alpha val="8861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2"/>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sp>
        <p:nvSpPr>
          <p:cNvPr id="130" name="Google Shape;130;p22"/>
          <p:cNvSpPr txBox="1"/>
          <p:nvPr/>
        </p:nvSpPr>
        <p:spPr>
          <a:xfrm>
            <a:off x="0" y="480225"/>
            <a:ext cx="9144000" cy="747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600"/>
              <a:buFont typeface="Arial"/>
              <a:buNone/>
            </a:pPr>
            <a:r>
              <a:rPr b="1" lang="en" sz="1700">
                <a:solidFill>
                  <a:srgbClr val="223D52"/>
                </a:solidFill>
                <a:latin typeface="Poppins"/>
                <a:ea typeface="Poppins"/>
                <a:cs typeface="Poppins"/>
                <a:sym typeface="Poppins"/>
              </a:rPr>
              <a:t>After referrals are made to CW hotlines, more cases are resulting in a youth </a:t>
            </a:r>
            <a:r>
              <a:rPr b="1" i="1" lang="en" sz="1700">
                <a:solidFill>
                  <a:srgbClr val="223D52"/>
                </a:solidFill>
                <a:latin typeface="Poppins"/>
                <a:ea typeface="Poppins"/>
                <a:cs typeface="Poppins"/>
                <a:sym typeface="Poppins"/>
              </a:rPr>
              <a:t>not </a:t>
            </a:r>
            <a:r>
              <a:rPr b="1" lang="en" sz="1700">
                <a:solidFill>
                  <a:srgbClr val="223D52"/>
                </a:solidFill>
                <a:latin typeface="Poppins"/>
                <a:ea typeface="Poppins"/>
                <a:cs typeface="Poppins"/>
                <a:sym typeface="Poppins"/>
              </a:rPr>
              <a:t>being brought into care</a:t>
            </a:r>
            <a:endParaRPr b="1" sz="1700">
              <a:solidFill>
                <a:srgbClr val="223D52"/>
              </a:solidFill>
              <a:latin typeface="Poppins"/>
              <a:ea typeface="Poppins"/>
              <a:cs typeface="Poppins"/>
              <a:sym typeface="Poppins"/>
            </a:endParaRPr>
          </a:p>
        </p:txBody>
      </p:sp>
      <p:cxnSp>
        <p:nvCxnSpPr>
          <p:cNvPr id="131" name="Google Shape;131;p22"/>
          <p:cNvCxnSpPr/>
          <p:nvPr/>
        </p:nvCxnSpPr>
        <p:spPr>
          <a:xfrm>
            <a:off x="2264075" y="2571750"/>
            <a:ext cx="1091400" cy="716100"/>
          </a:xfrm>
          <a:prstGeom prst="straightConnector1">
            <a:avLst/>
          </a:prstGeom>
          <a:noFill/>
          <a:ln cap="flat" cmpd="sng" w="38100">
            <a:solidFill>
              <a:schemeClr val="dk2"/>
            </a:solidFill>
            <a:prstDash val="solid"/>
            <a:round/>
            <a:headEnd len="med" w="med" type="none"/>
            <a:tailEnd len="med" w="med" type="triangle"/>
          </a:ln>
        </p:spPr>
      </p:cxnSp>
      <p:cxnSp>
        <p:nvCxnSpPr>
          <p:cNvPr id="132" name="Google Shape;132;p22"/>
          <p:cNvCxnSpPr/>
          <p:nvPr/>
        </p:nvCxnSpPr>
        <p:spPr>
          <a:xfrm flipH="1" rot="10800000">
            <a:off x="2264075" y="1855650"/>
            <a:ext cx="1091400" cy="716100"/>
          </a:xfrm>
          <a:prstGeom prst="straightConnector1">
            <a:avLst/>
          </a:prstGeom>
          <a:noFill/>
          <a:ln cap="flat" cmpd="sng" w="9525">
            <a:solidFill>
              <a:schemeClr val="dk2"/>
            </a:solidFill>
            <a:prstDash val="solid"/>
            <a:round/>
            <a:headEnd len="med" w="med" type="none"/>
            <a:tailEnd len="med" w="med" type="triangle"/>
          </a:ln>
        </p:spPr>
      </p:cxnSp>
      <p:sp>
        <p:nvSpPr>
          <p:cNvPr id="133" name="Google Shape;133;p22"/>
          <p:cNvSpPr/>
          <p:nvPr/>
        </p:nvSpPr>
        <p:spPr>
          <a:xfrm>
            <a:off x="3355475" y="1478575"/>
            <a:ext cx="2253300" cy="817200"/>
          </a:xfrm>
          <a:prstGeom prst="rect">
            <a:avLst/>
          </a:prstGeom>
          <a:solidFill>
            <a:srgbClr val="9ECEE8">
              <a:alpha val="44710"/>
            </a:srgbClr>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Risk substantiated, brought into care</a:t>
            </a:r>
            <a:endParaRPr b="1" i="0" sz="1300" u="none" cap="none" strike="noStrike">
              <a:solidFill>
                <a:srgbClr val="1F3E51"/>
              </a:solidFill>
              <a:latin typeface="Poppins"/>
              <a:ea typeface="Poppins"/>
              <a:cs typeface="Poppins"/>
              <a:sym typeface="Poppins"/>
            </a:endParaRPr>
          </a:p>
        </p:txBody>
      </p:sp>
      <p:sp>
        <p:nvSpPr>
          <p:cNvPr id="134" name="Google Shape;134;p22"/>
          <p:cNvSpPr/>
          <p:nvPr/>
        </p:nvSpPr>
        <p:spPr>
          <a:xfrm>
            <a:off x="3355475" y="2847725"/>
            <a:ext cx="2253300" cy="817200"/>
          </a:xfrm>
          <a:prstGeom prst="rect">
            <a:avLst/>
          </a:prstGeom>
          <a:solidFill>
            <a:srgbClr val="223D52"/>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chemeClr val="lt1"/>
                </a:solidFill>
                <a:latin typeface="Poppins"/>
                <a:ea typeface="Poppins"/>
                <a:cs typeface="Poppins"/>
                <a:sym typeface="Poppins"/>
              </a:rPr>
              <a:t>Risk not substantiated or can be managed in-home</a:t>
            </a:r>
            <a:endParaRPr b="1" i="0" sz="1300" u="none" cap="none" strike="noStrike">
              <a:solidFill>
                <a:schemeClr val="lt1"/>
              </a:solidFill>
              <a:latin typeface="Poppins"/>
              <a:ea typeface="Poppins"/>
              <a:cs typeface="Poppins"/>
              <a:sym typeface="Poppins"/>
            </a:endParaRPr>
          </a:p>
        </p:txBody>
      </p:sp>
      <p:sp>
        <p:nvSpPr>
          <p:cNvPr id="135" name="Google Shape;135;p22"/>
          <p:cNvSpPr/>
          <p:nvPr/>
        </p:nvSpPr>
        <p:spPr>
          <a:xfrm>
            <a:off x="278375" y="2163150"/>
            <a:ext cx="1985700" cy="817200"/>
          </a:xfrm>
          <a:prstGeom prst="rect">
            <a:avLst/>
          </a:prstGeom>
          <a:solidFill>
            <a:srgbClr val="FFC370"/>
          </a:solidFill>
          <a:ln cap="flat" cmpd="sng" w="19050">
            <a:solidFill>
              <a:srgbClr val="1F3E51"/>
            </a:solidFill>
            <a:prstDash val="solid"/>
            <a:round/>
            <a:headEnd len="sm" w="sm" type="none"/>
            <a:tailEnd len="sm" w="sm" type="none"/>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Initial referral for youth at risk</a:t>
            </a:r>
            <a:endParaRPr b="1" i="0" sz="1300" u="none" cap="none" strike="noStrike">
              <a:solidFill>
                <a:srgbClr val="1F3E5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3"/>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cxnSp>
        <p:nvCxnSpPr>
          <p:cNvPr id="141" name="Google Shape;141;p23"/>
          <p:cNvCxnSpPr/>
          <p:nvPr/>
        </p:nvCxnSpPr>
        <p:spPr>
          <a:xfrm>
            <a:off x="2264075" y="2571750"/>
            <a:ext cx="1091400" cy="716100"/>
          </a:xfrm>
          <a:prstGeom prst="straightConnector1">
            <a:avLst/>
          </a:prstGeom>
          <a:noFill/>
          <a:ln cap="flat" cmpd="sng" w="38100">
            <a:solidFill>
              <a:schemeClr val="dk2"/>
            </a:solidFill>
            <a:prstDash val="solid"/>
            <a:round/>
            <a:headEnd len="med" w="med" type="none"/>
            <a:tailEnd len="med" w="med" type="triangle"/>
          </a:ln>
        </p:spPr>
      </p:cxnSp>
      <p:cxnSp>
        <p:nvCxnSpPr>
          <p:cNvPr id="142" name="Google Shape;142;p23"/>
          <p:cNvCxnSpPr/>
          <p:nvPr/>
        </p:nvCxnSpPr>
        <p:spPr>
          <a:xfrm flipH="1" rot="10800000">
            <a:off x="2264075" y="1855650"/>
            <a:ext cx="1091400" cy="716100"/>
          </a:xfrm>
          <a:prstGeom prst="straightConnector1">
            <a:avLst/>
          </a:prstGeom>
          <a:noFill/>
          <a:ln cap="flat" cmpd="sng" w="9525">
            <a:solidFill>
              <a:schemeClr val="dk2"/>
            </a:solidFill>
            <a:prstDash val="solid"/>
            <a:round/>
            <a:headEnd len="med" w="med" type="none"/>
            <a:tailEnd len="med" w="med" type="triangle"/>
          </a:ln>
        </p:spPr>
      </p:cxnSp>
      <p:sp>
        <p:nvSpPr>
          <p:cNvPr id="143" name="Google Shape;143;p23"/>
          <p:cNvSpPr/>
          <p:nvPr/>
        </p:nvSpPr>
        <p:spPr>
          <a:xfrm>
            <a:off x="3355475" y="1478575"/>
            <a:ext cx="2253300" cy="817200"/>
          </a:xfrm>
          <a:prstGeom prst="rect">
            <a:avLst/>
          </a:prstGeom>
          <a:solidFill>
            <a:srgbClr val="9ECEE8">
              <a:alpha val="44710"/>
            </a:srgbClr>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Risk substantiated, brought into care</a:t>
            </a:r>
            <a:endParaRPr b="1" i="0" sz="1300" u="none" cap="none" strike="noStrike">
              <a:solidFill>
                <a:srgbClr val="1F3E51"/>
              </a:solidFill>
              <a:latin typeface="Poppins"/>
              <a:ea typeface="Poppins"/>
              <a:cs typeface="Poppins"/>
              <a:sym typeface="Poppins"/>
            </a:endParaRPr>
          </a:p>
        </p:txBody>
      </p:sp>
      <p:sp>
        <p:nvSpPr>
          <p:cNvPr id="144" name="Google Shape;144;p23"/>
          <p:cNvSpPr/>
          <p:nvPr/>
        </p:nvSpPr>
        <p:spPr>
          <a:xfrm>
            <a:off x="3355475" y="2847725"/>
            <a:ext cx="2253300" cy="817200"/>
          </a:xfrm>
          <a:prstGeom prst="rect">
            <a:avLst/>
          </a:prstGeom>
          <a:solidFill>
            <a:srgbClr val="223D52"/>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chemeClr val="lt1"/>
                </a:solidFill>
                <a:latin typeface="Poppins"/>
                <a:ea typeface="Poppins"/>
                <a:cs typeface="Poppins"/>
                <a:sym typeface="Poppins"/>
              </a:rPr>
              <a:t>Risk not substantiated or can be managed in-home</a:t>
            </a:r>
            <a:endParaRPr b="1" i="0" sz="1300" u="none" cap="none" strike="noStrike">
              <a:solidFill>
                <a:schemeClr val="lt1"/>
              </a:solidFill>
              <a:latin typeface="Poppins"/>
              <a:ea typeface="Poppins"/>
              <a:cs typeface="Poppins"/>
              <a:sym typeface="Poppins"/>
            </a:endParaRPr>
          </a:p>
        </p:txBody>
      </p:sp>
      <p:sp>
        <p:nvSpPr>
          <p:cNvPr id="145" name="Google Shape;145;p23"/>
          <p:cNvSpPr/>
          <p:nvPr/>
        </p:nvSpPr>
        <p:spPr>
          <a:xfrm>
            <a:off x="278375" y="2163150"/>
            <a:ext cx="1985700" cy="817200"/>
          </a:xfrm>
          <a:prstGeom prst="rect">
            <a:avLst/>
          </a:prstGeom>
          <a:solidFill>
            <a:srgbClr val="FFC370"/>
          </a:solidFill>
          <a:ln cap="flat" cmpd="sng" w="19050">
            <a:solidFill>
              <a:srgbClr val="1F3E51"/>
            </a:solidFill>
            <a:prstDash val="solid"/>
            <a:round/>
            <a:headEnd len="sm" w="sm" type="none"/>
            <a:tailEnd len="sm" w="sm" type="none"/>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Initial referral for youth at risk</a:t>
            </a:r>
            <a:endParaRPr b="1" i="0" sz="1300" u="none" cap="none" strike="noStrike">
              <a:solidFill>
                <a:srgbClr val="1F3E51"/>
              </a:solidFill>
              <a:latin typeface="Poppins"/>
              <a:ea typeface="Poppins"/>
              <a:cs typeface="Poppins"/>
              <a:sym typeface="Poppins"/>
            </a:endParaRPr>
          </a:p>
        </p:txBody>
      </p:sp>
      <p:sp>
        <p:nvSpPr>
          <p:cNvPr id="146" name="Google Shape;146;p23"/>
          <p:cNvSpPr/>
          <p:nvPr/>
        </p:nvSpPr>
        <p:spPr>
          <a:xfrm>
            <a:off x="6700175" y="2847575"/>
            <a:ext cx="2253300" cy="817200"/>
          </a:xfrm>
          <a:prstGeom prst="rect">
            <a:avLst/>
          </a:prstGeom>
          <a:solidFill>
            <a:srgbClr val="223D52"/>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chemeClr val="lt1"/>
                </a:solidFill>
                <a:latin typeface="Poppins"/>
                <a:ea typeface="Poppins"/>
                <a:cs typeface="Poppins"/>
                <a:sym typeface="Poppins"/>
              </a:rPr>
              <a:t>In-home services provided </a:t>
            </a:r>
            <a:endParaRPr b="1" i="0" sz="1300" u="none" cap="none" strike="noStrike">
              <a:solidFill>
                <a:schemeClr val="lt1"/>
              </a:solidFill>
              <a:latin typeface="Poppins"/>
              <a:ea typeface="Poppins"/>
              <a:cs typeface="Poppins"/>
              <a:sym typeface="Poppins"/>
            </a:endParaRPr>
          </a:p>
        </p:txBody>
      </p:sp>
      <p:cxnSp>
        <p:nvCxnSpPr>
          <p:cNvPr id="147" name="Google Shape;147;p23"/>
          <p:cNvCxnSpPr>
            <a:stCxn id="144" idx="3"/>
            <a:endCxn id="146" idx="1"/>
          </p:cNvCxnSpPr>
          <p:nvPr/>
        </p:nvCxnSpPr>
        <p:spPr>
          <a:xfrm>
            <a:off x="5608775" y="3256325"/>
            <a:ext cx="1091400" cy="0"/>
          </a:xfrm>
          <a:prstGeom prst="straightConnector1">
            <a:avLst/>
          </a:prstGeom>
          <a:noFill/>
          <a:ln cap="flat" cmpd="sng" w="19050">
            <a:solidFill>
              <a:schemeClr val="dk2"/>
            </a:solidFill>
            <a:prstDash val="solid"/>
            <a:round/>
            <a:headEnd len="med" w="med" type="none"/>
            <a:tailEnd len="med" w="med" type="triangle"/>
          </a:ln>
        </p:spPr>
      </p:cxnSp>
      <p:sp>
        <p:nvSpPr>
          <p:cNvPr id="148" name="Google Shape;148;p23"/>
          <p:cNvSpPr txBox="1"/>
          <p:nvPr/>
        </p:nvSpPr>
        <p:spPr>
          <a:xfrm>
            <a:off x="0" y="480225"/>
            <a:ext cx="9144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600"/>
              <a:buFont typeface="Arial"/>
              <a:buNone/>
            </a:pPr>
            <a:r>
              <a:rPr b="1" lang="en" sz="1700">
                <a:solidFill>
                  <a:srgbClr val="223D52"/>
                </a:solidFill>
                <a:latin typeface="Poppins"/>
                <a:ea typeface="Poppins"/>
                <a:cs typeface="Poppins"/>
                <a:sym typeface="Poppins"/>
              </a:rPr>
              <a:t>Ideally, many of those cases are then referred to service providers</a:t>
            </a:r>
            <a:endParaRPr b="1" sz="1700">
              <a:solidFill>
                <a:srgbClr val="223D52"/>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4"/>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cxnSp>
        <p:nvCxnSpPr>
          <p:cNvPr id="154" name="Google Shape;154;p24"/>
          <p:cNvCxnSpPr/>
          <p:nvPr/>
        </p:nvCxnSpPr>
        <p:spPr>
          <a:xfrm>
            <a:off x="2264075" y="2571750"/>
            <a:ext cx="1091400" cy="716100"/>
          </a:xfrm>
          <a:prstGeom prst="straightConnector1">
            <a:avLst/>
          </a:prstGeom>
          <a:noFill/>
          <a:ln cap="flat" cmpd="sng" w="38100">
            <a:solidFill>
              <a:schemeClr val="dk2"/>
            </a:solidFill>
            <a:prstDash val="solid"/>
            <a:round/>
            <a:headEnd len="med" w="med" type="none"/>
            <a:tailEnd len="med" w="med" type="triangle"/>
          </a:ln>
        </p:spPr>
      </p:cxnSp>
      <p:cxnSp>
        <p:nvCxnSpPr>
          <p:cNvPr id="155" name="Google Shape;155;p24"/>
          <p:cNvCxnSpPr/>
          <p:nvPr/>
        </p:nvCxnSpPr>
        <p:spPr>
          <a:xfrm flipH="1" rot="10800000">
            <a:off x="2264075" y="1855650"/>
            <a:ext cx="1091400" cy="716100"/>
          </a:xfrm>
          <a:prstGeom prst="straightConnector1">
            <a:avLst/>
          </a:prstGeom>
          <a:noFill/>
          <a:ln cap="flat" cmpd="sng" w="9525">
            <a:solidFill>
              <a:schemeClr val="dk2"/>
            </a:solidFill>
            <a:prstDash val="solid"/>
            <a:round/>
            <a:headEnd len="med" w="med" type="none"/>
            <a:tailEnd len="med" w="med" type="triangle"/>
          </a:ln>
        </p:spPr>
      </p:cxnSp>
      <p:sp>
        <p:nvSpPr>
          <p:cNvPr id="156" name="Google Shape;156;p24"/>
          <p:cNvSpPr/>
          <p:nvPr/>
        </p:nvSpPr>
        <p:spPr>
          <a:xfrm>
            <a:off x="3355475" y="1478575"/>
            <a:ext cx="2253300" cy="817200"/>
          </a:xfrm>
          <a:prstGeom prst="rect">
            <a:avLst/>
          </a:prstGeom>
          <a:solidFill>
            <a:srgbClr val="9ECEE8">
              <a:alpha val="44710"/>
            </a:srgbClr>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Risk substantiated, brought into care</a:t>
            </a:r>
            <a:endParaRPr b="1" i="0" sz="1300" u="none" cap="none" strike="noStrike">
              <a:solidFill>
                <a:srgbClr val="1F3E51"/>
              </a:solidFill>
              <a:latin typeface="Poppins"/>
              <a:ea typeface="Poppins"/>
              <a:cs typeface="Poppins"/>
              <a:sym typeface="Poppins"/>
            </a:endParaRPr>
          </a:p>
        </p:txBody>
      </p:sp>
      <p:sp>
        <p:nvSpPr>
          <p:cNvPr id="157" name="Google Shape;157;p24"/>
          <p:cNvSpPr/>
          <p:nvPr/>
        </p:nvSpPr>
        <p:spPr>
          <a:xfrm>
            <a:off x="3355475" y="2847725"/>
            <a:ext cx="2253300" cy="817200"/>
          </a:xfrm>
          <a:prstGeom prst="rect">
            <a:avLst/>
          </a:prstGeom>
          <a:solidFill>
            <a:srgbClr val="223D52"/>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chemeClr val="lt1"/>
                </a:solidFill>
                <a:latin typeface="Poppins"/>
                <a:ea typeface="Poppins"/>
                <a:cs typeface="Poppins"/>
                <a:sym typeface="Poppins"/>
              </a:rPr>
              <a:t>Risk not substantiated or can be managed in-home</a:t>
            </a:r>
            <a:endParaRPr b="1" i="0" sz="1300" u="none" cap="none" strike="noStrike">
              <a:solidFill>
                <a:schemeClr val="lt1"/>
              </a:solidFill>
              <a:latin typeface="Poppins"/>
              <a:ea typeface="Poppins"/>
              <a:cs typeface="Poppins"/>
              <a:sym typeface="Poppins"/>
            </a:endParaRPr>
          </a:p>
        </p:txBody>
      </p:sp>
      <p:sp>
        <p:nvSpPr>
          <p:cNvPr id="158" name="Google Shape;158;p24"/>
          <p:cNvSpPr/>
          <p:nvPr/>
        </p:nvSpPr>
        <p:spPr>
          <a:xfrm>
            <a:off x="278375" y="2163150"/>
            <a:ext cx="1985700" cy="817200"/>
          </a:xfrm>
          <a:prstGeom prst="rect">
            <a:avLst/>
          </a:prstGeom>
          <a:solidFill>
            <a:srgbClr val="FFC370"/>
          </a:solidFill>
          <a:ln cap="flat" cmpd="sng" w="19050">
            <a:solidFill>
              <a:srgbClr val="1F3E51"/>
            </a:solidFill>
            <a:prstDash val="solid"/>
            <a:round/>
            <a:headEnd len="sm" w="sm" type="none"/>
            <a:tailEnd len="sm" w="sm" type="none"/>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Initial referral for youth at risk</a:t>
            </a:r>
            <a:endParaRPr b="1" i="0" sz="1300" u="none" cap="none" strike="noStrike">
              <a:solidFill>
                <a:srgbClr val="1F3E51"/>
              </a:solidFill>
              <a:latin typeface="Poppins"/>
              <a:ea typeface="Poppins"/>
              <a:cs typeface="Poppins"/>
              <a:sym typeface="Poppins"/>
            </a:endParaRPr>
          </a:p>
        </p:txBody>
      </p:sp>
      <p:sp>
        <p:nvSpPr>
          <p:cNvPr id="159" name="Google Shape;159;p24"/>
          <p:cNvSpPr/>
          <p:nvPr/>
        </p:nvSpPr>
        <p:spPr>
          <a:xfrm>
            <a:off x="6700175" y="2847575"/>
            <a:ext cx="2253300" cy="817200"/>
          </a:xfrm>
          <a:prstGeom prst="rect">
            <a:avLst/>
          </a:prstGeom>
          <a:solidFill>
            <a:srgbClr val="223D52"/>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chemeClr val="lt1"/>
                </a:solidFill>
                <a:latin typeface="Poppins"/>
                <a:ea typeface="Poppins"/>
                <a:cs typeface="Poppins"/>
                <a:sym typeface="Poppins"/>
              </a:rPr>
              <a:t>In-home services provided </a:t>
            </a:r>
            <a:endParaRPr b="1" i="0" sz="1300" u="none" cap="none" strike="noStrike">
              <a:solidFill>
                <a:schemeClr val="lt1"/>
              </a:solidFill>
              <a:latin typeface="Poppins"/>
              <a:ea typeface="Poppins"/>
              <a:cs typeface="Poppins"/>
              <a:sym typeface="Poppins"/>
            </a:endParaRPr>
          </a:p>
        </p:txBody>
      </p:sp>
      <p:pic>
        <p:nvPicPr>
          <p:cNvPr id="160" name="Google Shape;160;p24"/>
          <p:cNvPicPr preferRelativeResize="0"/>
          <p:nvPr/>
        </p:nvPicPr>
        <p:blipFill>
          <a:blip r:embed="rId4">
            <a:alphaModFix/>
          </a:blip>
          <a:stretch>
            <a:fillRect/>
          </a:stretch>
        </p:blipFill>
        <p:spPr>
          <a:xfrm>
            <a:off x="5745884" y="2847575"/>
            <a:ext cx="817183" cy="817200"/>
          </a:xfrm>
          <a:prstGeom prst="rect">
            <a:avLst/>
          </a:prstGeom>
          <a:noFill/>
          <a:ln>
            <a:noFill/>
          </a:ln>
        </p:spPr>
      </p:pic>
      <p:sp>
        <p:nvSpPr>
          <p:cNvPr id="161" name="Google Shape;161;p24"/>
          <p:cNvSpPr txBox="1"/>
          <p:nvPr/>
        </p:nvSpPr>
        <p:spPr>
          <a:xfrm>
            <a:off x="0" y="480225"/>
            <a:ext cx="9144000" cy="446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600"/>
              <a:buFont typeface="Arial"/>
              <a:buNone/>
            </a:pPr>
            <a:r>
              <a:rPr b="1" lang="en" sz="1700">
                <a:solidFill>
                  <a:srgbClr val="223D52"/>
                </a:solidFill>
                <a:latin typeface="Poppins"/>
                <a:ea typeface="Poppins"/>
                <a:cs typeface="Poppins"/>
                <a:sym typeface="Poppins"/>
              </a:rPr>
              <a:t>However, connections to services are not always successful</a:t>
            </a:r>
            <a:endParaRPr b="1" sz="1700">
              <a:solidFill>
                <a:srgbClr val="223D52"/>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5"/>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cxnSp>
        <p:nvCxnSpPr>
          <p:cNvPr id="167" name="Google Shape;167;p25"/>
          <p:cNvCxnSpPr/>
          <p:nvPr/>
        </p:nvCxnSpPr>
        <p:spPr>
          <a:xfrm>
            <a:off x="2264075" y="2571750"/>
            <a:ext cx="1091400" cy="716100"/>
          </a:xfrm>
          <a:prstGeom prst="straightConnector1">
            <a:avLst/>
          </a:prstGeom>
          <a:noFill/>
          <a:ln cap="flat" cmpd="sng" w="38100">
            <a:solidFill>
              <a:schemeClr val="dk2"/>
            </a:solidFill>
            <a:prstDash val="solid"/>
            <a:round/>
            <a:headEnd len="med" w="med" type="none"/>
            <a:tailEnd len="med" w="med" type="triangle"/>
          </a:ln>
        </p:spPr>
      </p:cxnSp>
      <p:cxnSp>
        <p:nvCxnSpPr>
          <p:cNvPr id="168" name="Google Shape;168;p25"/>
          <p:cNvCxnSpPr/>
          <p:nvPr/>
        </p:nvCxnSpPr>
        <p:spPr>
          <a:xfrm flipH="1" rot="10800000">
            <a:off x="2264075" y="1855650"/>
            <a:ext cx="1091400" cy="716100"/>
          </a:xfrm>
          <a:prstGeom prst="straightConnector1">
            <a:avLst/>
          </a:prstGeom>
          <a:noFill/>
          <a:ln cap="flat" cmpd="sng" w="9525">
            <a:solidFill>
              <a:schemeClr val="dk2"/>
            </a:solidFill>
            <a:prstDash val="solid"/>
            <a:round/>
            <a:headEnd len="med" w="med" type="none"/>
            <a:tailEnd len="med" w="med" type="triangle"/>
          </a:ln>
        </p:spPr>
      </p:cxnSp>
      <p:sp>
        <p:nvSpPr>
          <p:cNvPr id="169" name="Google Shape;169;p25"/>
          <p:cNvSpPr/>
          <p:nvPr/>
        </p:nvSpPr>
        <p:spPr>
          <a:xfrm>
            <a:off x="3355475" y="1478575"/>
            <a:ext cx="2253300" cy="817200"/>
          </a:xfrm>
          <a:prstGeom prst="rect">
            <a:avLst/>
          </a:prstGeom>
          <a:solidFill>
            <a:srgbClr val="9ECEE8">
              <a:alpha val="44710"/>
            </a:srgbClr>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Risk substantiated, brought into care</a:t>
            </a:r>
            <a:endParaRPr b="1" i="0" sz="1300" u="none" cap="none" strike="noStrike">
              <a:solidFill>
                <a:srgbClr val="1F3E51"/>
              </a:solidFill>
              <a:latin typeface="Poppins"/>
              <a:ea typeface="Poppins"/>
              <a:cs typeface="Poppins"/>
              <a:sym typeface="Poppins"/>
            </a:endParaRPr>
          </a:p>
        </p:txBody>
      </p:sp>
      <p:sp>
        <p:nvSpPr>
          <p:cNvPr id="170" name="Google Shape;170;p25"/>
          <p:cNvSpPr/>
          <p:nvPr/>
        </p:nvSpPr>
        <p:spPr>
          <a:xfrm>
            <a:off x="3355475" y="2847725"/>
            <a:ext cx="2253300" cy="817200"/>
          </a:xfrm>
          <a:prstGeom prst="rect">
            <a:avLst/>
          </a:prstGeom>
          <a:solidFill>
            <a:srgbClr val="223D52"/>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chemeClr val="lt1"/>
                </a:solidFill>
                <a:latin typeface="Poppins"/>
                <a:ea typeface="Poppins"/>
                <a:cs typeface="Poppins"/>
                <a:sym typeface="Poppins"/>
              </a:rPr>
              <a:t>Risk not substantiated</a:t>
            </a:r>
            <a:r>
              <a:rPr b="1" lang="en" sz="1300">
                <a:solidFill>
                  <a:schemeClr val="lt1"/>
                </a:solidFill>
                <a:latin typeface="Poppins"/>
                <a:ea typeface="Poppins"/>
                <a:cs typeface="Poppins"/>
                <a:sym typeface="Poppins"/>
              </a:rPr>
              <a:t> or can be managed in-home</a:t>
            </a:r>
            <a:endParaRPr b="1" i="0" sz="1300" u="none" cap="none" strike="noStrike">
              <a:solidFill>
                <a:schemeClr val="lt1"/>
              </a:solidFill>
              <a:latin typeface="Poppins"/>
              <a:ea typeface="Poppins"/>
              <a:cs typeface="Poppins"/>
              <a:sym typeface="Poppins"/>
            </a:endParaRPr>
          </a:p>
        </p:txBody>
      </p:sp>
      <p:sp>
        <p:nvSpPr>
          <p:cNvPr id="171" name="Google Shape;171;p25"/>
          <p:cNvSpPr/>
          <p:nvPr/>
        </p:nvSpPr>
        <p:spPr>
          <a:xfrm>
            <a:off x="278375" y="2163150"/>
            <a:ext cx="1985700" cy="817200"/>
          </a:xfrm>
          <a:prstGeom prst="rect">
            <a:avLst/>
          </a:prstGeom>
          <a:solidFill>
            <a:srgbClr val="FFC370"/>
          </a:solidFill>
          <a:ln cap="flat" cmpd="sng" w="19050">
            <a:solidFill>
              <a:srgbClr val="1F3E51"/>
            </a:solidFill>
            <a:prstDash val="solid"/>
            <a:round/>
            <a:headEnd len="sm" w="sm" type="none"/>
            <a:tailEnd len="sm" w="sm" type="none"/>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Initial referral for youth at risk</a:t>
            </a:r>
            <a:endParaRPr b="1" i="0" sz="1300" u="none" cap="none" strike="noStrike">
              <a:solidFill>
                <a:srgbClr val="1F3E51"/>
              </a:solidFill>
              <a:latin typeface="Poppins"/>
              <a:ea typeface="Poppins"/>
              <a:cs typeface="Poppins"/>
              <a:sym typeface="Poppins"/>
            </a:endParaRPr>
          </a:p>
        </p:txBody>
      </p:sp>
      <p:sp>
        <p:nvSpPr>
          <p:cNvPr id="172" name="Google Shape;172;p25"/>
          <p:cNvSpPr/>
          <p:nvPr/>
        </p:nvSpPr>
        <p:spPr>
          <a:xfrm>
            <a:off x="6700175" y="2847575"/>
            <a:ext cx="2253300" cy="817200"/>
          </a:xfrm>
          <a:prstGeom prst="rect">
            <a:avLst/>
          </a:prstGeom>
          <a:solidFill>
            <a:srgbClr val="223D52"/>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chemeClr val="lt1"/>
                </a:solidFill>
                <a:latin typeface="Poppins"/>
                <a:ea typeface="Poppins"/>
                <a:cs typeface="Poppins"/>
                <a:sym typeface="Poppins"/>
              </a:rPr>
              <a:t>In-home services provided </a:t>
            </a:r>
            <a:endParaRPr b="1" i="0" sz="1300" u="none" cap="none" strike="noStrike">
              <a:solidFill>
                <a:schemeClr val="lt1"/>
              </a:solidFill>
              <a:latin typeface="Poppins"/>
              <a:ea typeface="Poppins"/>
              <a:cs typeface="Poppins"/>
              <a:sym typeface="Poppins"/>
            </a:endParaRPr>
          </a:p>
        </p:txBody>
      </p:sp>
      <p:pic>
        <p:nvPicPr>
          <p:cNvPr id="173" name="Google Shape;173;p25"/>
          <p:cNvPicPr preferRelativeResize="0"/>
          <p:nvPr/>
        </p:nvPicPr>
        <p:blipFill>
          <a:blip r:embed="rId4">
            <a:alphaModFix/>
          </a:blip>
          <a:stretch>
            <a:fillRect/>
          </a:stretch>
        </p:blipFill>
        <p:spPr>
          <a:xfrm>
            <a:off x="5745884" y="2847575"/>
            <a:ext cx="817183" cy="817200"/>
          </a:xfrm>
          <a:prstGeom prst="rect">
            <a:avLst/>
          </a:prstGeom>
          <a:noFill/>
          <a:ln>
            <a:noFill/>
          </a:ln>
        </p:spPr>
      </p:pic>
      <p:cxnSp>
        <p:nvCxnSpPr>
          <p:cNvPr id="174" name="Google Shape;174;p25"/>
          <p:cNvCxnSpPr>
            <a:stCxn id="170" idx="2"/>
          </p:cNvCxnSpPr>
          <p:nvPr/>
        </p:nvCxnSpPr>
        <p:spPr>
          <a:xfrm>
            <a:off x="4482125" y="3664925"/>
            <a:ext cx="13200" cy="972900"/>
          </a:xfrm>
          <a:prstGeom prst="straightConnector1">
            <a:avLst/>
          </a:prstGeom>
          <a:noFill/>
          <a:ln cap="flat" cmpd="sng" w="38100">
            <a:solidFill>
              <a:srgbClr val="F94F4C"/>
            </a:solidFill>
            <a:prstDash val="solid"/>
            <a:round/>
            <a:headEnd len="med" w="med" type="none"/>
            <a:tailEnd len="med" w="med" type="none"/>
          </a:ln>
        </p:spPr>
      </p:cxnSp>
      <p:cxnSp>
        <p:nvCxnSpPr>
          <p:cNvPr id="175" name="Google Shape;175;p25"/>
          <p:cNvCxnSpPr/>
          <p:nvPr/>
        </p:nvCxnSpPr>
        <p:spPr>
          <a:xfrm flipH="1">
            <a:off x="1267625" y="4637825"/>
            <a:ext cx="3227700" cy="7500"/>
          </a:xfrm>
          <a:prstGeom prst="straightConnector1">
            <a:avLst/>
          </a:prstGeom>
          <a:noFill/>
          <a:ln cap="flat" cmpd="sng" w="38100">
            <a:solidFill>
              <a:srgbClr val="F94F4C"/>
            </a:solidFill>
            <a:prstDash val="solid"/>
            <a:round/>
            <a:headEnd len="med" w="med" type="none"/>
            <a:tailEnd len="med" w="med" type="none"/>
          </a:ln>
        </p:spPr>
      </p:cxnSp>
      <p:cxnSp>
        <p:nvCxnSpPr>
          <p:cNvPr id="176" name="Google Shape;176;p25"/>
          <p:cNvCxnSpPr>
            <a:endCxn id="171" idx="2"/>
          </p:cNvCxnSpPr>
          <p:nvPr/>
        </p:nvCxnSpPr>
        <p:spPr>
          <a:xfrm rot="10800000">
            <a:off x="1271225" y="2980350"/>
            <a:ext cx="0" cy="1663200"/>
          </a:xfrm>
          <a:prstGeom prst="straightConnector1">
            <a:avLst/>
          </a:prstGeom>
          <a:noFill/>
          <a:ln cap="flat" cmpd="sng" w="38100">
            <a:solidFill>
              <a:srgbClr val="F94F4C"/>
            </a:solidFill>
            <a:prstDash val="solid"/>
            <a:round/>
            <a:headEnd len="med" w="med" type="none"/>
            <a:tailEnd len="med" w="med" type="triangle"/>
          </a:ln>
        </p:spPr>
      </p:cxnSp>
      <p:sp>
        <p:nvSpPr>
          <p:cNvPr id="177" name="Google Shape;177;p25"/>
          <p:cNvSpPr txBox="1"/>
          <p:nvPr/>
        </p:nvSpPr>
        <p:spPr>
          <a:xfrm>
            <a:off x="0" y="480225"/>
            <a:ext cx="9144000" cy="747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600"/>
              <a:buFont typeface="Arial"/>
              <a:buNone/>
            </a:pPr>
            <a:r>
              <a:rPr b="1" lang="en" sz="1700">
                <a:solidFill>
                  <a:srgbClr val="223D52"/>
                </a:solidFill>
                <a:latin typeface="Poppins"/>
                <a:ea typeface="Poppins"/>
                <a:cs typeface="Poppins"/>
                <a:sym typeface="Poppins"/>
              </a:rPr>
              <a:t>Despite the positive of a child not coming into care, the underlying concern may not be addressed and lead to re-referrals</a:t>
            </a:r>
            <a:endParaRPr b="1" sz="1700">
              <a:solidFill>
                <a:srgbClr val="223D52"/>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6"/>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cxnSp>
        <p:nvCxnSpPr>
          <p:cNvPr id="183" name="Google Shape;183;p26"/>
          <p:cNvCxnSpPr/>
          <p:nvPr/>
        </p:nvCxnSpPr>
        <p:spPr>
          <a:xfrm rot="10800000">
            <a:off x="1037075" y="4465025"/>
            <a:ext cx="3340500" cy="3900"/>
          </a:xfrm>
          <a:prstGeom prst="straightConnector1">
            <a:avLst/>
          </a:prstGeom>
          <a:noFill/>
          <a:ln cap="flat" cmpd="sng" w="19050">
            <a:solidFill>
              <a:srgbClr val="1F3E51"/>
            </a:solidFill>
            <a:prstDash val="solid"/>
            <a:round/>
            <a:headEnd len="med" w="med" type="none"/>
            <a:tailEnd len="med" w="med" type="none"/>
          </a:ln>
        </p:spPr>
      </p:cxnSp>
      <p:sp>
        <p:nvSpPr>
          <p:cNvPr id="184" name="Google Shape;184;p26"/>
          <p:cNvSpPr txBox="1"/>
          <p:nvPr/>
        </p:nvSpPr>
        <p:spPr>
          <a:xfrm>
            <a:off x="1257200" y="3302763"/>
            <a:ext cx="17628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600"/>
              <a:buFont typeface="Arial"/>
              <a:buNone/>
            </a:pPr>
            <a:r>
              <a:rPr b="1" lang="en" sz="1300">
                <a:solidFill>
                  <a:srgbClr val="F29E18"/>
                </a:solidFill>
                <a:latin typeface="Poppins"/>
                <a:ea typeface="Poppins"/>
                <a:cs typeface="Poppins"/>
                <a:sym typeface="Poppins"/>
              </a:rPr>
              <a:t>Placement rate</a:t>
            </a:r>
            <a:endParaRPr b="1" sz="1300">
              <a:solidFill>
                <a:srgbClr val="F29E18"/>
              </a:solidFill>
              <a:latin typeface="Poppins"/>
              <a:ea typeface="Poppins"/>
              <a:cs typeface="Poppins"/>
              <a:sym typeface="Poppins"/>
            </a:endParaRPr>
          </a:p>
        </p:txBody>
      </p:sp>
      <p:cxnSp>
        <p:nvCxnSpPr>
          <p:cNvPr id="185" name="Google Shape;185;p26"/>
          <p:cNvCxnSpPr/>
          <p:nvPr/>
        </p:nvCxnSpPr>
        <p:spPr>
          <a:xfrm>
            <a:off x="1037100" y="1538650"/>
            <a:ext cx="0" cy="2932800"/>
          </a:xfrm>
          <a:prstGeom prst="straightConnector1">
            <a:avLst/>
          </a:prstGeom>
          <a:noFill/>
          <a:ln cap="flat" cmpd="sng" w="19050">
            <a:solidFill>
              <a:srgbClr val="1F3E51"/>
            </a:solidFill>
            <a:prstDash val="solid"/>
            <a:round/>
            <a:headEnd len="med" w="med" type="none"/>
            <a:tailEnd len="med" w="med" type="none"/>
          </a:ln>
        </p:spPr>
      </p:cxnSp>
      <p:sp>
        <p:nvSpPr>
          <p:cNvPr id="186" name="Google Shape;186;p26"/>
          <p:cNvSpPr txBox="1"/>
          <p:nvPr/>
        </p:nvSpPr>
        <p:spPr>
          <a:xfrm rot="-5400000">
            <a:off x="-135600" y="2711425"/>
            <a:ext cx="16737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Poppins"/>
                <a:ea typeface="Poppins"/>
                <a:cs typeface="Poppins"/>
                <a:sym typeface="Poppins"/>
              </a:rPr>
              <a:t>Number of children</a:t>
            </a:r>
            <a:endParaRPr sz="1100">
              <a:solidFill>
                <a:schemeClr val="dk2"/>
              </a:solidFill>
              <a:latin typeface="Poppins"/>
              <a:ea typeface="Poppins"/>
              <a:cs typeface="Poppins"/>
              <a:sym typeface="Poppins"/>
            </a:endParaRPr>
          </a:p>
        </p:txBody>
      </p:sp>
      <p:sp>
        <p:nvSpPr>
          <p:cNvPr id="187" name="Google Shape;187;p26"/>
          <p:cNvSpPr txBox="1"/>
          <p:nvPr/>
        </p:nvSpPr>
        <p:spPr>
          <a:xfrm>
            <a:off x="2629800" y="4705550"/>
            <a:ext cx="8007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Poppins"/>
                <a:ea typeface="Poppins"/>
                <a:cs typeface="Poppins"/>
                <a:sym typeface="Poppins"/>
              </a:rPr>
              <a:t>Year</a:t>
            </a:r>
            <a:endParaRPr sz="1200">
              <a:solidFill>
                <a:schemeClr val="dk2"/>
              </a:solidFill>
              <a:latin typeface="Poppins"/>
              <a:ea typeface="Poppins"/>
              <a:cs typeface="Poppins"/>
              <a:sym typeface="Poppins"/>
            </a:endParaRPr>
          </a:p>
        </p:txBody>
      </p:sp>
      <p:sp>
        <p:nvSpPr>
          <p:cNvPr id="188" name="Google Shape;188;p26"/>
          <p:cNvSpPr txBox="1"/>
          <p:nvPr/>
        </p:nvSpPr>
        <p:spPr>
          <a:xfrm>
            <a:off x="10371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2018</a:t>
            </a:r>
            <a:endParaRPr sz="900">
              <a:solidFill>
                <a:schemeClr val="dk2"/>
              </a:solidFill>
              <a:latin typeface="Poppins"/>
              <a:ea typeface="Poppins"/>
              <a:cs typeface="Poppins"/>
              <a:sym typeface="Poppins"/>
            </a:endParaRPr>
          </a:p>
        </p:txBody>
      </p:sp>
      <p:sp>
        <p:nvSpPr>
          <p:cNvPr id="189" name="Google Shape;189;p26"/>
          <p:cNvSpPr txBox="1"/>
          <p:nvPr/>
        </p:nvSpPr>
        <p:spPr>
          <a:xfrm>
            <a:off x="15154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2019</a:t>
            </a:r>
            <a:endParaRPr sz="900">
              <a:solidFill>
                <a:schemeClr val="dk2"/>
              </a:solidFill>
              <a:latin typeface="Poppins"/>
              <a:ea typeface="Poppins"/>
              <a:cs typeface="Poppins"/>
              <a:sym typeface="Poppins"/>
            </a:endParaRPr>
          </a:p>
        </p:txBody>
      </p:sp>
      <p:sp>
        <p:nvSpPr>
          <p:cNvPr id="190" name="Google Shape;190;p26"/>
          <p:cNvSpPr txBox="1"/>
          <p:nvPr/>
        </p:nvSpPr>
        <p:spPr>
          <a:xfrm>
            <a:off x="19937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2020</a:t>
            </a:r>
            <a:endParaRPr sz="900">
              <a:solidFill>
                <a:schemeClr val="dk2"/>
              </a:solidFill>
              <a:latin typeface="Poppins"/>
              <a:ea typeface="Poppins"/>
              <a:cs typeface="Poppins"/>
              <a:sym typeface="Poppins"/>
            </a:endParaRPr>
          </a:p>
        </p:txBody>
      </p:sp>
      <p:sp>
        <p:nvSpPr>
          <p:cNvPr id="191" name="Google Shape;191;p26"/>
          <p:cNvSpPr txBox="1"/>
          <p:nvPr/>
        </p:nvSpPr>
        <p:spPr>
          <a:xfrm>
            <a:off x="24720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2021</a:t>
            </a:r>
            <a:endParaRPr sz="900">
              <a:solidFill>
                <a:schemeClr val="dk2"/>
              </a:solidFill>
              <a:latin typeface="Poppins"/>
              <a:ea typeface="Poppins"/>
              <a:cs typeface="Poppins"/>
              <a:sym typeface="Poppins"/>
            </a:endParaRPr>
          </a:p>
        </p:txBody>
      </p:sp>
      <p:sp>
        <p:nvSpPr>
          <p:cNvPr id="192" name="Google Shape;192;p26"/>
          <p:cNvSpPr txBox="1"/>
          <p:nvPr/>
        </p:nvSpPr>
        <p:spPr>
          <a:xfrm>
            <a:off x="29503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2022</a:t>
            </a:r>
            <a:endParaRPr sz="900">
              <a:solidFill>
                <a:schemeClr val="dk2"/>
              </a:solidFill>
              <a:latin typeface="Poppins"/>
              <a:ea typeface="Poppins"/>
              <a:cs typeface="Poppins"/>
              <a:sym typeface="Poppins"/>
            </a:endParaRPr>
          </a:p>
        </p:txBody>
      </p:sp>
      <p:sp>
        <p:nvSpPr>
          <p:cNvPr id="193" name="Google Shape;193;p26"/>
          <p:cNvSpPr txBox="1"/>
          <p:nvPr/>
        </p:nvSpPr>
        <p:spPr>
          <a:xfrm>
            <a:off x="34286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2023</a:t>
            </a:r>
            <a:endParaRPr sz="900">
              <a:solidFill>
                <a:schemeClr val="dk2"/>
              </a:solidFill>
              <a:latin typeface="Poppins"/>
              <a:ea typeface="Poppins"/>
              <a:cs typeface="Poppins"/>
              <a:sym typeface="Poppins"/>
            </a:endParaRPr>
          </a:p>
        </p:txBody>
      </p:sp>
      <p:sp>
        <p:nvSpPr>
          <p:cNvPr id="194" name="Google Shape;194;p26"/>
          <p:cNvSpPr txBox="1"/>
          <p:nvPr/>
        </p:nvSpPr>
        <p:spPr>
          <a:xfrm>
            <a:off x="3906900" y="446170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2024</a:t>
            </a:r>
            <a:endParaRPr sz="900">
              <a:solidFill>
                <a:schemeClr val="dk2"/>
              </a:solidFill>
              <a:latin typeface="Poppins"/>
              <a:ea typeface="Poppins"/>
              <a:cs typeface="Poppins"/>
              <a:sym typeface="Poppins"/>
            </a:endParaRPr>
          </a:p>
        </p:txBody>
      </p:sp>
      <p:cxnSp>
        <p:nvCxnSpPr>
          <p:cNvPr id="195" name="Google Shape;195;p26"/>
          <p:cNvCxnSpPr/>
          <p:nvPr/>
        </p:nvCxnSpPr>
        <p:spPr>
          <a:xfrm>
            <a:off x="1158700" y="2877150"/>
            <a:ext cx="3093300" cy="991800"/>
          </a:xfrm>
          <a:prstGeom prst="straightConnector1">
            <a:avLst/>
          </a:prstGeom>
          <a:noFill/>
          <a:ln cap="flat" cmpd="sng" w="28575">
            <a:solidFill>
              <a:srgbClr val="F29E18"/>
            </a:solidFill>
            <a:prstDash val="solid"/>
            <a:round/>
            <a:headEnd len="med" w="med" type="none"/>
            <a:tailEnd len="med" w="med" type="none"/>
          </a:ln>
        </p:spPr>
      </p:cxnSp>
      <p:cxnSp>
        <p:nvCxnSpPr>
          <p:cNvPr id="196" name="Google Shape;196;p26"/>
          <p:cNvCxnSpPr/>
          <p:nvPr/>
        </p:nvCxnSpPr>
        <p:spPr>
          <a:xfrm flipH="1" rot="10800000">
            <a:off x="1158700" y="1747975"/>
            <a:ext cx="2922600" cy="771000"/>
          </a:xfrm>
          <a:prstGeom prst="straightConnector1">
            <a:avLst/>
          </a:prstGeom>
          <a:noFill/>
          <a:ln cap="flat" cmpd="sng" w="28575">
            <a:solidFill>
              <a:srgbClr val="FC4512"/>
            </a:solidFill>
            <a:prstDash val="solid"/>
            <a:round/>
            <a:headEnd len="med" w="med" type="none"/>
            <a:tailEnd len="med" w="med" type="none"/>
          </a:ln>
        </p:spPr>
      </p:cxnSp>
      <p:sp>
        <p:nvSpPr>
          <p:cNvPr id="197" name="Google Shape;197;p26"/>
          <p:cNvSpPr txBox="1"/>
          <p:nvPr/>
        </p:nvSpPr>
        <p:spPr>
          <a:xfrm>
            <a:off x="1257200" y="1655650"/>
            <a:ext cx="22842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600"/>
              <a:buFont typeface="Arial"/>
              <a:buNone/>
            </a:pPr>
            <a:r>
              <a:rPr b="1" lang="en" sz="1300">
                <a:solidFill>
                  <a:srgbClr val="FC4512"/>
                </a:solidFill>
                <a:latin typeface="Poppins"/>
                <a:ea typeface="Poppins"/>
                <a:cs typeface="Poppins"/>
                <a:sym typeface="Poppins"/>
              </a:rPr>
              <a:t>R</a:t>
            </a:r>
            <a:r>
              <a:rPr b="1" lang="en" sz="1300">
                <a:solidFill>
                  <a:srgbClr val="FC4512"/>
                </a:solidFill>
                <a:latin typeface="Poppins"/>
                <a:ea typeface="Poppins"/>
                <a:cs typeface="Poppins"/>
                <a:sym typeface="Poppins"/>
              </a:rPr>
              <a:t>e-referral rate</a:t>
            </a:r>
            <a:endParaRPr b="1" sz="1300">
              <a:solidFill>
                <a:srgbClr val="FC4512"/>
              </a:solidFill>
              <a:latin typeface="Poppins"/>
              <a:ea typeface="Poppins"/>
              <a:cs typeface="Poppins"/>
              <a:sym typeface="Poppins"/>
            </a:endParaRPr>
          </a:p>
        </p:txBody>
      </p:sp>
      <p:sp>
        <p:nvSpPr>
          <p:cNvPr id="198" name="Google Shape;198;p26"/>
          <p:cNvSpPr txBox="1"/>
          <p:nvPr/>
        </p:nvSpPr>
        <p:spPr>
          <a:xfrm>
            <a:off x="0" y="480225"/>
            <a:ext cx="9144000" cy="747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600"/>
              <a:buFont typeface="Arial"/>
              <a:buNone/>
            </a:pPr>
            <a:r>
              <a:rPr b="1" lang="en" sz="1700">
                <a:solidFill>
                  <a:srgbClr val="223D52"/>
                </a:solidFill>
                <a:latin typeface="Poppins"/>
                <a:ea typeface="Poppins"/>
                <a:cs typeface="Poppins"/>
                <a:sym typeface="Poppins"/>
              </a:rPr>
              <a:t>This pattern can lead to declining </a:t>
            </a:r>
            <a:r>
              <a:rPr b="1" lang="en" sz="1700">
                <a:solidFill>
                  <a:srgbClr val="223D52"/>
                </a:solidFill>
                <a:latin typeface="Poppins"/>
                <a:ea typeface="Poppins"/>
                <a:cs typeface="Poppins"/>
                <a:sym typeface="Poppins"/>
              </a:rPr>
              <a:t>placement</a:t>
            </a:r>
            <a:r>
              <a:rPr b="1" lang="en" sz="1700">
                <a:solidFill>
                  <a:srgbClr val="223D52"/>
                </a:solidFill>
                <a:latin typeface="Poppins"/>
                <a:ea typeface="Poppins"/>
                <a:cs typeface="Poppins"/>
                <a:sym typeface="Poppins"/>
              </a:rPr>
              <a:t> rates alongside increasing re-referral rates</a:t>
            </a:r>
            <a:endParaRPr b="1" sz="1700">
              <a:solidFill>
                <a:srgbClr val="223D52"/>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7"/>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cxnSp>
        <p:nvCxnSpPr>
          <p:cNvPr id="204" name="Google Shape;204;p27"/>
          <p:cNvCxnSpPr/>
          <p:nvPr/>
        </p:nvCxnSpPr>
        <p:spPr>
          <a:xfrm rot="10800000">
            <a:off x="1037075" y="4465025"/>
            <a:ext cx="3340500" cy="3900"/>
          </a:xfrm>
          <a:prstGeom prst="straightConnector1">
            <a:avLst/>
          </a:prstGeom>
          <a:noFill/>
          <a:ln cap="flat" cmpd="sng" w="19050">
            <a:solidFill>
              <a:srgbClr val="1F3E51"/>
            </a:solidFill>
            <a:prstDash val="solid"/>
            <a:round/>
            <a:headEnd len="med" w="med" type="none"/>
            <a:tailEnd len="med" w="med" type="none"/>
          </a:ln>
        </p:spPr>
      </p:cxnSp>
      <p:sp>
        <p:nvSpPr>
          <p:cNvPr id="205" name="Google Shape;205;p27"/>
          <p:cNvSpPr txBox="1"/>
          <p:nvPr/>
        </p:nvSpPr>
        <p:spPr>
          <a:xfrm>
            <a:off x="1257200" y="3302763"/>
            <a:ext cx="17628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600"/>
              <a:buFont typeface="Arial"/>
              <a:buNone/>
            </a:pPr>
            <a:r>
              <a:rPr b="1" lang="en" sz="1300">
                <a:solidFill>
                  <a:srgbClr val="F29E18"/>
                </a:solidFill>
                <a:latin typeface="Poppins"/>
                <a:ea typeface="Poppins"/>
                <a:cs typeface="Poppins"/>
                <a:sym typeface="Poppins"/>
              </a:rPr>
              <a:t>Placement rate</a:t>
            </a:r>
            <a:endParaRPr b="1" sz="1300">
              <a:solidFill>
                <a:srgbClr val="F29E18"/>
              </a:solidFill>
              <a:latin typeface="Poppins"/>
              <a:ea typeface="Poppins"/>
              <a:cs typeface="Poppins"/>
              <a:sym typeface="Poppins"/>
            </a:endParaRPr>
          </a:p>
        </p:txBody>
      </p:sp>
      <p:cxnSp>
        <p:nvCxnSpPr>
          <p:cNvPr id="206" name="Google Shape;206;p27"/>
          <p:cNvCxnSpPr/>
          <p:nvPr/>
        </p:nvCxnSpPr>
        <p:spPr>
          <a:xfrm>
            <a:off x="1037100" y="1538650"/>
            <a:ext cx="0" cy="2932800"/>
          </a:xfrm>
          <a:prstGeom prst="straightConnector1">
            <a:avLst/>
          </a:prstGeom>
          <a:noFill/>
          <a:ln cap="flat" cmpd="sng" w="19050">
            <a:solidFill>
              <a:srgbClr val="1F3E51"/>
            </a:solidFill>
            <a:prstDash val="solid"/>
            <a:round/>
            <a:headEnd len="med" w="med" type="none"/>
            <a:tailEnd len="med" w="med" type="none"/>
          </a:ln>
        </p:spPr>
      </p:cxnSp>
      <p:sp>
        <p:nvSpPr>
          <p:cNvPr id="207" name="Google Shape;207;p27"/>
          <p:cNvSpPr txBox="1"/>
          <p:nvPr/>
        </p:nvSpPr>
        <p:spPr>
          <a:xfrm rot="-5400000">
            <a:off x="-135600" y="2711425"/>
            <a:ext cx="16737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2"/>
                </a:solidFill>
                <a:latin typeface="Poppins"/>
                <a:ea typeface="Poppins"/>
                <a:cs typeface="Poppins"/>
                <a:sym typeface="Poppins"/>
              </a:rPr>
              <a:t>Number of children</a:t>
            </a:r>
            <a:endParaRPr sz="1100">
              <a:solidFill>
                <a:schemeClr val="dk2"/>
              </a:solidFill>
              <a:latin typeface="Poppins"/>
              <a:ea typeface="Poppins"/>
              <a:cs typeface="Poppins"/>
              <a:sym typeface="Poppins"/>
            </a:endParaRPr>
          </a:p>
        </p:txBody>
      </p:sp>
      <p:sp>
        <p:nvSpPr>
          <p:cNvPr id="208" name="Google Shape;208;p27"/>
          <p:cNvSpPr txBox="1"/>
          <p:nvPr/>
        </p:nvSpPr>
        <p:spPr>
          <a:xfrm>
            <a:off x="2629800" y="4705550"/>
            <a:ext cx="8007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Poppins"/>
                <a:ea typeface="Poppins"/>
                <a:cs typeface="Poppins"/>
                <a:sym typeface="Poppins"/>
              </a:rPr>
              <a:t>Year</a:t>
            </a:r>
            <a:endParaRPr sz="1200">
              <a:solidFill>
                <a:schemeClr val="dk2"/>
              </a:solidFill>
              <a:latin typeface="Poppins"/>
              <a:ea typeface="Poppins"/>
              <a:cs typeface="Poppins"/>
              <a:sym typeface="Poppins"/>
            </a:endParaRPr>
          </a:p>
        </p:txBody>
      </p:sp>
      <p:sp>
        <p:nvSpPr>
          <p:cNvPr id="209" name="Google Shape;209;p27"/>
          <p:cNvSpPr txBox="1"/>
          <p:nvPr/>
        </p:nvSpPr>
        <p:spPr>
          <a:xfrm>
            <a:off x="10371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2018</a:t>
            </a:r>
            <a:endParaRPr sz="900">
              <a:solidFill>
                <a:schemeClr val="dk2"/>
              </a:solidFill>
              <a:latin typeface="Poppins"/>
              <a:ea typeface="Poppins"/>
              <a:cs typeface="Poppins"/>
              <a:sym typeface="Poppins"/>
            </a:endParaRPr>
          </a:p>
        </p:txBody>
      </p:sp>
      <p:sp>
        <p:nvSpPr>
          <p:cNvPr id="210" name="Google Shape;210;p27"/>
          <p:cNvSpPr txBox="1"/>
          <p:nvPr/>
        </p:nvSpPr>
        <p:spPr>
          <a:xfrm>
            <a:off x="15154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2019</a:t>
            </a:r>
            <a:endParaRPr sz="900">
              <a:solidFill>
                <a:schemeClr val="dk2"/>
              </a:solidFill>
              <a:latin typeface="Poppins"/>
              <a:ea typeface="Poppins"/>
              <a:cs typeface="Poppins"/>
              <a:sym typeface="Poppins"/>
            </a:endParaRPr>
          </a:p>
        </p:txBody>
      </p:sp>
      <p:sp>
        <p:nvSpPr>
          <p:cNvPr id="211" name="Google Shape;211;p27"/>
          <p:cNvSpPr txBox="1"/>
          <p:nvPr/>
        </p:nvSpPr>
        <p:spPr>
          <a:xfrm>
            <a:off x="19937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2020</a:t>
            </a:r>
            <a:endParaRPr sz="900">
              <a:solidFill>
                <a:schemeClr val="dk2"/>
              </a:solidFill>
              <a:latin typeface="Poppins"/>
              <a:ea typeface="Poppins"/>
              <a:cs typeface="Poppins"/>
              <a:sym typeface="Poppins"/>
            </a:endParaRPr>
          </a:p>
        </p:txBody>
      </p:sp>
      <p:sp>
        <p:nvSpPr>
          <p:cNvPr id="212" name="Google Shape;212;p27"/>
          <p:cNvSpPr txBox="1"/>
          <p:nvPr/>
        </p:nvSpPr>
        <p:spPr>
          <a:xfrm>
            <a:off x="24720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2021</a:t>
            </a:r>
            <a:endParaRPr sz="900">
              <a:solidFill>
                <a:schemeClr val="dk2"/>
              </a:solidFill>
              <a:latin typeface="Poppins"/>
              <a:ea typeface="Poppins"/>
              <a:cs typeface="Poppins"/>
              <a:sym typeface="Poppins"/>
            </a:endParaRPr>
          </a:p>
        </p:txBody>
      </p:sp>
      <p:sp>
        <p:nvSpPr>
          <p:cNvPr id="213" name="Google Shape;213;p27"/>
          <p:cNvSpPr txBox="1"/>
          <p:nvPr/>
        </p:nvSpPr>
        <p:spPr>
          <a:xfrm>
            <a:off x="29503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2022</a:t>
            </a:r>
            <a:endParaRPr sz="900">
              <a:solidFill>
                <a:schemeClr val="dk2"/>
              </a:solidFill>
              <a:latin typeface="Poppins"/>
              <a:ea typeface="Poppins"/>
              <a:cs typeface="Poppins"/>
              <a:sym typeface="Poppins"/>
            </a:endParaRPr>
          </a:p>
        </p:txBody>
      </p:sp>
      <p:sp>
        <p:nvSpPr>
          <p:cNvPr id="214" name="Google Shape;214;p27"/>
          <p:cNvSpPr txBox="1"/>
          <p:nvPr/>
        </p:nvSpPr>
        <p:spPr>
          <a:xfrm>
            <a:off x="3428600" y="447145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2023</a:t>
            </a:r>
            <a:endParaRPr sz="900">
              <a:solidFill>
                <a:schemeClr val="dk2"/>
              </a:solidFill>
              <a:latin typeface="Poppins"/>
              <a:ea typeface="Poppins"/>
              <a:cs typeface="Poppins"/>
              <a:sym typeface="Poppins"/>
            </a:endParaRPr>
          </a:p>
        </p:txBody>
      </p:sp>
      <p:sp>
        <p:nvSpPr>
          <p:cNvPr id="215" name="Google Shape;215;p27"/>
          <p:cNvSpPr txBox="1"/>
          <p:nvPr/>
        </p:nvSpPr>
        <p:spPr>
          <a:xfrm>
            <a:off x="3906900" y="4461700"/>
            <a:ext cx="476400" cy="37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latin typeface="Poppins"/>
                <a:ea typeface="Poppins"/>
                <a:cs typeface="Poppins"/>
                <a:sym typeface="Poppins"/>
              </a:rPr>
              <a:t>2024</a:t>
            </a:r>
            <a:endParaRPr sz="900">
              <a:solidFill>
                <a:schemeClr val="dk2"/>
              </a:solidFill>
              <a:latin typeface="Poppins"/>
              <a:ea typeface="Poppins"/>
              <a:cs typeface="Poppins"/>
              <a:sym typeface="Poppins"/>
            </a:endParaRPr>
          </a:p>
        </p:txBody>
      </p:sp>
      <p:cxnSp>
        <p:nvCxnSpPr>
          <p:cNvPr id="216" name="Google Shape;216;p27"/>
          <p:cNvCxnSpPr/>
          <p:nvPr/>
        </p:nvCxnSpPr>
        <p:spPr>
          <a:xfrm>
            <a:off x="1158700" y="2877150"/>
            <a:ext cx="3093300" cy="991800"/>
          </a:xfrm>
          <a:prstGeom prst="straightConnector1">
            <a:avLst/>
          </a:prstGeom>
          <a:noFill/>
          <a:ln cap="flat" cmpd="sng" w="28575">
            <a:solidFill>
              <a:srgbClr val="F29E18"/>
            </a:solidFill>
            <a:prstDash val="solid"/>
            <a:round/>
            <a:headEnd len="med" w="med" type="none"/>
            <a:tailEnd len="med" w="med" type="none"/>
          </a:ln>
        </p:spPr>
      </p:cxnSp>
      <p:cxnSp>
        <p:nvCxnSpPr>
          <p:cNvPr id="217" name="Google Shape;217;p27"/>
          <p:cNvCxnSpPr/>
          <p:nvPr/>
        </p:nvCxnSpPr>
        <p:spPr>
          <a:xfrm flipH="1" rot="10800000">
            <a:off x="1158700" y="1747975"/>
            <a:ext cx="2922600" cy="771000"/>
          </a:xfrm>
          <a:prstGeom prst="straightConnector1">
            <a:avLst/>
          </a:prstGeom>
          <a:noFill/>
          <a:ln cap="flat" cmpd="sng" w="28575">
            <a:solidFill>
              <a:srgbClr val="FC4512"/>
            </a:solidFill>
            <a:prstDash val="solid"/>
            <a:round/>
            <a:headEnd len="med" w="med" type="none"/>
            <a:tailEnd len="med" w="med" type="none"/>
          </a:ln>
        </p:spPr>
      </p:cxnSp>
      <p:sp>
        <p:nvSpPr>
          <p:cNvPr id="218" name="Google Shape;218;p27"/>
          <p:cNvSpPr txBox="1"/>
          <p:nvPr/>
        </p:nvSpPr>
        <p:spPr>
          <a:xfrm>
            <a:off x="1257200" y="1655650"/>
            <a:ext cx="22842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600"/>
              <a:buFont typeface="Arial"/>
              <a:buNone/>
            </a:pPr>
            <a:r>
              <a:rPr b="1" lang="en" sz="1300">
                <a:solidFill>
                  <a:srgbClr val="FC4512"/>
                </a:solidFill>
                <a:latin typeface="Poppins"/>
                <a:ea typeface="Poppins"/>
                <a:cs typeface="Poppins"/>
                <a:sym typeface="Poppins"/>
              </a:rPr>
              <a:t>Re-referral rate</a:t>
            </a:r>
            <a:endParaRPr b="1" sz="1300">
              <a:solidFill>
                <a:srgbClr val="FC4512"/>
              </a:solidFill>
              <a:latin typeface="Poppins"/>
              <a:ea typeface="Poppins"/>
              <a:cs typeface="Poppins"/>
              <a:sym typeface="Poppins"/>
            </a:endParaRPr>
          </a:p>
        </p:txBody>
      </p:sp>
      <p:sp>
        <p:nvSpPr>
          <p:cNvPr id="219" name="Google Shape;219;p27"/>
          <p:cNvSpPr txBox="1"/>
          <p:nvPr/>
        </p:nvSpPr>
        <p:spPr>
          <a:xfrm>
            <a:off x="0" y="480225"/>
            <a:ext cx="9144000" cy="747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Clr>
                <a:schemeClr val="dk1"/>
              </a:buClr>
              <a:buSzPts val="1600"/>
              <a:buFont typeface="Arial"/>
              <a:buNone/>
            </a:pPr>
            <a:r>
              <a:rPr b="1" lang="en" sz="1700">
                <a:solidFill>
                  <a:srgbClr val="223D52"/>
                </a:solidFill>
                <a:latin typeface="Poppins"/>
                <a:ea typeface="Poppins"/>
                <a:cs typeface="Poppins"/>
                <a:sym typeface="Poppins"/>
              </a:rPr>
              <a:t>This pattern can lead to declining placement rates alongside increasing re-referral rates</a:t>
            </a:r>
            <a:endParaRPr b="1" sz="1700">
              <a:solidFill>
                <a:srgbClr val="223D52"/>
              </a:solidFill>
              <a:latin typeface="Poppins"/>
              <a:ea typeface="Poppins"/>
              <a:cs typeface="Poppins"/>
              <a:sym typeface="Poppins"/>
            </a:endParaRPr>
          </a:p>
        </p:txBody>
      </p:sp>
      <p:sp>
        <p:nvSpPr>
          <p:cNvPr id="220" name="Google Shape;220;p27"/>
          <p:cNvSpPr/>
          <p:nvPr/>
        </p:nvSpPr>
        <p:spPr>
          <a:xfrm>
            <a:off x="5153125" y="1747450"/>
            <a:ext cx="3098100" cy="2515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 sz="2100">
                <a:solidFill>
                  <a:srgbClr val="213D52"/>
                </a:solidFill>
                <a:latin typeface="Poppins"/>
                <a:ea typeface="Poppins"/>
                <a:cs typeface="Poppins"/>
                <a:sym typeface="Poppins"/>
              </a:rPr>
              <a:t>Both placement rates AND re-referral rates declining would be a </a:t>
            </a:r>
            <a:r>
              <a:rPr b="1" lang="en" sz="2100">
                <a:solidFill>
                  <a:srgbClr val="213D52"/>
                </a:solidFill>
                <a:latin typeface="Poppins"/>
                <a:ea typeface="Poppins"/>
                <a:cs typeface="Poppins"/>
                <a:sym typeface="Poppins"/>
              </a:rPr>
              <a:t>signal of effective prevention on a holistic scale</a:t>
            </a:r>
            <a:endParaRPr b="1" i="0" sz="2100" u="none" cap="none" strike="noStrike">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8"/>
          <p:cNvSpPr/>
          <p:nvPr/>
        </p:nvSpPr>
        <p:spPr>
          <a:xfrm rot="5400000">
            <a:off x="0" y="0"/>
            <a:ext cx="1151100" cy="1151100"/>
          </a:xfrm>
          <a:prstGeom prst="corner">
            <a:avLst>
              <a:gd fmla="val 50000" name="adj1"/>
              <a:gd fmla="val 50000" name="adj2"/>
            </a:avLst>
          </a:prstGeom>
          <a:solidFill>
            <a:srgbClr val="FC45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8"/>
          <p:cNvSpPr/>
          <p:nvPr/>
        </p:nvSpPr>
        <p:spPr>
          <a:xfrm>
            <a:off x="0" y="0"/>
            <a:ext cx="4222200" cy="5143500"/>
          </a:xfrm>
          <a:prstGeom prst="rect">
            <a:avLst/>
          </a:prstGeom>
          <a:solidFill>
            <a:srgbClr val="1F3E51"/>
          </a:solidFill>
          <a:ln cap="flat" cmpd="sng" w="9525">
            <a:solidFill>
              <a:srgbClr val="1F3E5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28"/>
          <p:cNvSpPr txBox="1"/>
          <p:nvPr/>
        </p:nvSpPr>
        <p:spPr>
          <a:xfrm>
            <a:off x="4402425" y="894000"/>
            <a:ext cx="4438800" cy="3507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What have been particularly effective prevention measures in your jurisdiction? </a:t>
            </a:r>
            <a:endParaRPr>
              <a:solidFill>
                <a:schemeClr val="dk1"/>
              </a:solidFill>
              <a:latin typeface="Poppins"/>
              <a:ea typeface="Poppins"/>
              <a:cs typeface="Poppins"/>
              <a:sym typeface="Poppins"/>
            </a:endParaRPr>
          </a:p>
          <a:p>
            <a:pPr indent="-317500" lvl="1" marL="914400" rtl="0" algn="l">
              <a:lnSpc>
                <a:spcPct val="115000"/>
              </a:lnSpc>
              <a:spcBef>
                <a:spcPts val="0"/>
              </a:spcBef>
              <a:spcAft>
                <a:spcPts val="0"/>
              </a:spcAft>
              <a:buClr>
                <a:schemeClr val="dk1"/>
              </a:buClr>
              <a:buSzPts val="1400"/>
              <a:buFont typeface="Poppins"/>
              <a:buAutoNum type="alphaLcPeriod"/>
            </a:pPr>
            <a:r>
              <a:rPr lang="en">
                <a:solidFill>
                  <a:schemeClr val="dk1"/>
                </a:solidFill>
                <a:latin typeface="Poppins"/>
                <a:ea typeface="Poppins"/>
                <a:cs typeface="Poppins"/>
                <a:sym typeface="Poppins"/>
              </a:rPr>
              <a:t>What challenges do you continue to experience?</a:t>
            </a:r>
            <a:endParaRPr>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Have you experienced specific challenges related to service delivery? </a:t>
            </a:r>
            <a:endParaRPr>
              <a:solidFill>
                <a:schemeClr val="dk1"/>
              </a:solidFill>
              <a:latin typeface="Poppins"/>
              <a:ea typeface="Poppins"/>
              <a:cs typeface="Poppins"/>
              <a:sym typeface="Poppins"/>
            </a:endParaRPr>
          </a:p>
          <a:p>
            <a:pPr indent="-317500" lvl="1" marL="914400" rtl="0" algn="l">
              <a:lnSpc>
                <a:spcPct val="115000"/>
              </a:lnSpc>
              <a:spcBef>
                <a:spcPts val="0"/>
              </a:spcBef>
              <a:spcAft>
                <a:spcPts val="0"/>
              </a:spcAft>
              <a:buClr>
                <a:schemeClr val="dk1"/>
              </a:buClr>
              <a:buSzPts val="1400"/>
              <a:buFont typeface="Poppins"/>
              <a:buAutoNum type="alphaLcPeriod"/>
            </a:pPr>
            <a:r>
              <a:rPr lang="en">
                <a:solidFill>
                  <a:schemeClr val="dk1"/>
                </a:solidFill>
                <a:latin typeface="Poppins"/>
                <a:ea typeface="Poppins"/>
                <a:cs typeface="Poppins"/>
                <a:sym typeface="Poppins"/>
              </a:rPr>
              <a:t>E.g. lack of services in particular locations or low uptake from families</a:t>
            </a:r>
            <a:endParaRPr>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To what extent does your jurisdiction track re-referrals? How have re-referrals changed over the last 5 years?</a:t>
            </a:r>
            <a:endParaRPr>
              <a:solidFill>
                <a:schemeClr val="dk1"/>
              </a:solidFill>
              <a:latin typeface="Poppins"/>
              <a:ea typeface="Poppins"/>
              <a:cs typeface="Poppins"/>
              <a:sym typeface="Poppins"/>
            </a:endParaRPr>
          </a:p>
        </p:txBody>
      </p:sp>
      <p:sp>
        <p:nvSpPr>
          <p:cNvPr id="228" name="Google Shape;228;p28"/>
          <p:cNvSpPr txBox="1"/>
          <p:nvPr/>
        </p:nvSpPr>
        <p:spPr>
          <a:xfrm>
            <a:off x="467850" y="1713000"/>
            <a:ext cx="3286500" cy="171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100">
                <a:solidFill>
                  <a:srgbClr val="9ECEE8"/>
                </a:solidFill>
                <a:latin typeface="Poppins"/>
                <a:ea typeface="Poppins"/>
                <a:cs typeface="Poppins"/>
                <a:sym typeface="Poppins"/>
              </a:rPr>
              <a:t>Prevention Questions:</a:t>
            </a:r>
            <a:endParaRPr b="1" sz="2100">
              <a:solidFill>
                <a:srgbClr val="9ECEE8"/>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nvSpPr>
        <p:spPr>
          <a:xfrm>
            <a:off x="0" y="601625"/>
            <a:ext cx="91440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2100"/>
              <a:buFont typeface="Arial"/>
              <a:buNone/>
            </a:pPr>
            <a:r>
              <a:rPr b="1" lang="en" sz="1900">
                <a:solidFill>
                  <a:srgbClr val="1F3E51"/>
                </a:solidFill>
                <a:latin typeface="Poppins"/>
                <a:ea typeface="Poppins"/>
                <a:cs typeface="Poppins"/>
                <a:sym typeface="Poppins"/>
              </a:rPr>
              <a:t>The shift towards prevention has also brought new challenges</a:t>
            </a:r>
            <a:endParaRPr b="1" sz="1900">
              <a:solidFill>
                <a:srgbClr val="1F3E51"/>
              </a:solidFill>
              <a:latin typeface="Poppins"/>
              <a:ea typeface="Poppins"/>
              <a:cs typeface="Poppins"/>
              <a:sym typeface="Poppins"/>
            </a:endParaRPr>
          </a:p>
        </p:txBody>
      </p:sp>
      <p:sp>
        <p:nvSpPr>
          <p:cNvPr id="234" name="Google Shape;234;p29"/>
          <p:cNvSpPr/>
          <p:nvPr/>
        </p:nvSpPr>
        <p:spPr>
          <a:xfrm>
            <a:off x="6115475" y="2564250"/>
            <a:ext cx="1541700" cy="63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b="1" lang="en" sz="1600">
                <a:solidFill>
                  <a:srgbClr val="1F3E51"/>
                </a:solidFill>
                <a:latin typeface="Poppins"/>
                <a:ea typeface="Poppins"/>
                <a:cs typeface="Poppins"/>
                <a:sym typeface="Poppins"/>
              </a:rPr>
              <a:t>Child Needs</a:t>
            </a:r>
            <a:endParaRPr b="1" sz="1600">
              <a:solidFill>
                <a:srgbClr val="1F3E51"/>
              </a:solidFill>
              <a:latin typeface="Poppins"/>
              <a:ea typeface="Poppins"/>
              <a:cs typeface="Poppins"/>
              <a:sym typeface="Poppins"/>
            </a:endParaRPr>
          </a:p>
        </p:txBody>
      </p:sp>
      <p:sp>
        <p:nvSpPr>
          <p:cNvPr id="235" name="Google Shape;235;p29"/>
          <p:cNvSpPr/>
          <p:nvPr/>
        </p:nvSpPr>
        <p:spPr>
          <a:xfrm>
            <a:off x="1963475" y="2564238"/>
            <a:ext cx="1541700" cy="636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400"/>
              <a:buFont typeface="Arial"/>
              <a:buNone/>
            </a:pPr>
            <a:r>
              <a:rPr b="1" lang="en" sz="1600">
                <a:solidFill>
                  <a:srgbClr val="1F3E51"/>
                </a:solidFill>
                <a:latin typeface="Poppins"/>
                <a:ea typeface="Poppins"/>
                <a:cs typeface="Poppins"/>
                <a:sym typeface="Poppins"/>
              </a:rPr>
              <a:t>Re-Referrals</a:t>
            </a:r>
            <a:endParaRPr b="1" sz="1600">
              <a:solidFill>
                <a:srgbClr val="1F3E51"/>
              </a:solidFill>
              <a:latin typeface="Poppins"/>
              <a:ea typeface="Poppins"/>
              <a:cs typeface="Poppins"/>
              <a:sym typeface="Poppins"/>
            </a:endParaRPr>
          </a:p>
        </p:txBody>
      </p:sp>
      <p:sp>
        <p:nvSpPr>
          <p:cNvPr id="236" name="Google Shape;236;p29"/>
          <p:cNvSpPr/>
          <p:nvPr/>
        </p:nvSpPr>
        <p:spPr>
          <a:xfrm>
            <a:off x="1338425" y="3095325"/>
            <a:ext cx="2791800" cy="1540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dk1"/>
                </a:solidFill>
                <a:latin typeface="Poppins"/>
                <a:ea typeface="Poppins"/>
                <a:cs typeface="Poppins"/>
                <a:sym typeface="Poppins"/>
              </a:rPr>
              <a:t>An increase in the number of children being re-referred to child welfare hotlines multiple times</a:t>
            </a:r>
            <a:endParaRPr sz="1100">
              <a:solidFill>
                <a:schemeClr val="dk1"/>
              </a:solidFill>
              <a:latin typeface="Poppins"/>
              <a:ea typeface="Poppins"/>
              <a:cs typeface="Poppins"/>
              <a:sym typeface="Poppins"/>
            </a:endParaRPr>
          </a:p>
        </p:txBody>
      </p:sp>
      <p:pic>
        <p:nvPicPr>
          <p:cNvPr id="237" name="Google Shape;237;p29"/>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pic>
        <p:nvPicPr>
          <p:cNvPr id="238" name="Google Shape;238;p29"/>
          <p:cNvPicPr preferRelativeResize="0"/>
          <p:nvPr/>
        </p:nvPicPr>
        <p:blipFill>
          <a:blip r:embed="rId4">
            <a:alphaModFix/>
          </a:blip>
          <a:stretch>
            <a:fillRect/>
          </a:stretch>
        </p:blipFill>
        <p:spPr>
          <a:xfrm>
            <a:off x="2277125" y="1671825"/>
            <a:ext cx="914400" cy="901882"/>
          </a:xfrm>
          <a:prstGeom prst="rect">
            <a:avLst/>
          </a:prstGeom>
          <a:noFill/>
          <a:ln>
            <a:noFill/>
          </a:ln>
        </p:spPr>
      </p:pic>
      <p:pic>
        <p:nvPicPr>
          <p:cNvPr id="239" name="Google Shape;239;p29"/>
          <p:cNvPicPr preferRelativeResize="0"/>
          <p:nvPr/>
        </p:nvPicPr>
        <p:blipFill>
          <a:blip r:embed="rId5">
            <a:alphaModFix/>
          </a:blip>
          <a:stretch>
            <a:fillRect/>
          </a:stretch>
        </p:blipFill>
        <p:spPr>
          <a:xfrm>
            <a:off x="6310100" y="1546549"/>
            <a:ext cx="1152450" cy="1152425"/>
          </a:xfrm>
          <a:prstGeom prst="rect">
            <a:avLst/>
          </a:prstGeom>
          <a:noFill/>
          <a:ln>
            <a:noFill/>
          </a:ln>
        </p:spPr>
      </p:pic>
      <p:sp>
        <p:nvSpPr>
          <p:cNvPr id="240" name="Google Shape;240;p29"/>
          <p:cNvSpPr/>
          <p:nvPr/>
        </p:nvSpPr>
        <p:spPr>
          <a:xfrm>
            <a:off x="5592850" y="3256125"/>
            <a:ext cx="2944800" cy="1218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Poppins"/>
                <a:ea typeface="Poppins"/>
                <a:cs typeface="Poppins"/>
                <a:sym typeface="Poppins"/>
              </a:rPr>
              <a:t>The population of children who </a:t>
            </a:r>
            <a:r>
              <a:rPr i="1" lang="en">
                <a:solidFill>
                  <a:schemeClr val="dk1"/>
                </a:solidFill>
                <a:latin typeface="Poppins"/>
                <a:ea typeface="Poppins"/>
                <a:cs typeface="Poppins"/>
                <a:sym typeface="Poppins"/>
              </a:rPr>
              <a:t>are</a:t>
            </a:r>
            <a:r>
              <a:rPr lang="en">
                <a:solidFill>
                  <a:schemeClr val="dk1"/>
                </a:solidFill>
                <a:latin typeface="Poppins"/>
                <a:ea typeface="Poppins"/>
                <a:cs typeface="Poppins"/>
                <a:sym typeface="Poppins"/>
              </a:rPr>
              <a:t> in foster care becoming more skewed towards those with high needs</a:t>
            </a:r>
            <a:endParaRPr sz="1100">
              <a:solidFill>
                <a:schemeClr val="dk1"/>
              </a:solidFill>
              <a:latin typeface="Poppins"/>
              <a:ea typeface="Poppins"/>
              <a:cs typeface="Poppins"/>
              <a:sym typeface="Poppins"/>
            </a:endParaRPr>
          </a:p>
        </p:txBody>
      </p:sp>
      <p:sp>
        <p:nvSpPr>
          <p:cNvPr id="241" name="Google Shape;241;p29"/>
          <p:cNvSpPr/>
          <p:nvPr/>
        </p:nvSpPr>
        <p:spPr>
          <a:xfrm>
            <a:off x="829625" y="1732725"/>
            <a:ext cx="3809400" cy="2902800"/>
          </a:xfrm>
          <a:prstGeom prst="rect">
            <a:avLst/>
          </a:prstGeom>
          <a:solidFill>
            <a:srgbClr val="FFFFFF">
              <a:alpha val="8861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0"/>
          <p:cNvSpPr/>
          <p:nvPr/>
        </p:nvSpPr>
        <p:spPr>
          <a:xfrm rot="5400000">
            <a:off x="0" y="0"/>
            <a:ext cx="1151100" cy="1151100"/>
          </a:xfrm>
          <a:prstGeom prst="corner">
            <a:avLst>
              <a:gd fmla="val 50000" name="adj1"/>
              <a:gd fmla="val 50000" name="adj2"/>
            </a:avLst>
          </a:prstGeom>
          <a:solidFill>
            <a:srgbClr val="FC45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30"/>
          <p:cNvSpPr/>
          <p:nvPr/>
        </p:nvSpPr>
        <p:spPr>
          <a:xfrm>
            <a:off x="0" y="0"/>
            <a:ext cx="4222200" cy="5143500"/>
          </a:xfrm>
          <a:prstGeom prst="rect">
            <a:avLst/>
          </a:prstGeom>
          <a:solidFill>
            <a:srgbClr val="1F3E51"/>
          </a:solidFill>
          <a:ln cap="flat" cmpd="sng" w="9525">
            <a:solidFill>
              <a:srgbClr val="1F3E5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30"/>
          <p:cNvSpPr txBox="1"/>
          <p:nvPr/>
        </p:nvSpPr>
        <p:spPr>
          <a:xfrm>
            <a:off x="4446725" y="817800"/>
            <a:ext cx="4438800" cy="3507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b="1">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n">
                <a:solidFill>
                  <a:schemeClr val="dk1"/>
                </a:solidFill>
                <a:latin typeface="Poppins"/>
                <a:ea typeface="Poppins"/>
                <a:cs typeface="Poppins"/>
                <a:sym typeface="Poppins"/>
              </a:rPr>
              <a:t>This may be due to a variety of factors, including:</a:t>
            </a:r>
            <a:endParaRPr b="1">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Greater focus on prevention efforts screening out less complex, lower needs cases</a:t>
            </a:r>
            <a:endParaRPr>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Increased focus from child welfare agencies on identifying child needs and reimbursing caregivers appropriately</a:t>
            </a:r>
            <a:endParaRPr>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a:solidFill>
                <a:schemeClr val="dk1"/>
              </a:solidFill>
              <a:latin typeface="Poppins"/>
              <a:ea typeface="Poppins"/>
              <a:cs typeface="Poppins"/>
              <a:sym typeface="Poppins"/>
            </a:endParaRPr>
          </a:p>
          <a:p>
            <a:pPr indent="-317500" lvl="0" marL="457200" rtl="0" algn="l">
              <a:lnSpc>
                <a:spcPct val="115000"/>
              </a:lnSpc>
              <a:spcBef>
                <a:spcPts val="0"/>
              </a:spcBef>
              <a:spcAft>
                <a:spcPts val="0"/>
              </a:spcAft>
              <a:buClr>
                <a:schemeClr val="dk1"/>
              </a:buClr>
              <a:buSzPts val="1400"/>
              <a:buFont typeface="Poppins"/>
              <a:buAutoNum type="arabicPeriod"/>
            </a:pPr>
            <a:r>
              <a:rPr lang="en">
                <a:solidFill>
                  <a:schemeClr val="dk1"/>
                </a:solidFill>
                <a:latin typeface="Poppins"/>
                <a:ea typeface="Poppins"/>
                <a:cs typeface="Poppins"/>
                <a:sym typeface="Poppins"/>
              </a:rPr>
              <a:t>Changing societal norms on awareness and diagnosis of mental health needs</a:t>
            </a:r>
            <a:endParaRPr>
              <a:solidFill>
                <a:schemeClr val="dk1"/>
              </a:solidFill>
              <a:latin typeface="Poppins"/>
              <a:ea typeface="Poppins"/>
              <a:cs typeface="Poppins"/>
              <a:sym typeface="Poppins"/>
            </a:endParaRPr>
          </a:p>
        </p:txBody>
      </p:sp>
      <p:sp>
        <p:nvSpPr>
          <p:cNvPr id="249" name="Google Shape;249;p30"/>
          <p:cNvSpPr txBox="1"/>
          <p:nvPr/>
        </p:nvSpPr>
        <p:spPr>
          <a:xfrm>
            <a:off x="467850" y="1253850"/>
            <a:ext cx="3286500" cy="2635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100">
                <a:solidFill>
                  <a:srgbClr val="9ECEE8"/>
                </a:solidFill>
                <a:latin typeface="Poppins"/>
                <a:ea typeface="Poppins"/>
                <a:cs typeface="Poppins"/>
                <a:sym typeface="Poppins"/>
              </a:rPr>
              <a:t>We have observed a pattern of children in care having more complex behavioral and mental health needs over time</a:t>
            </a:r>
            <a:endParaRPr b="1" sz="2100">
              <a:solidFill>
                <a:srgbClr val="9ECEE8"/>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1"/>
          <p:cNvSpPr txBox="1"/>
          <p:nvPr/>
        </p:nvSpPr>
        <p:spPr>
          <a:xfrm>
            <a:off x="695550" y="158450"/>
            <a:ext cx="77529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2100"/>
              <a:buFont typeface="Arial"/>
              <a:buNone/>
            </a:pPr>
            <a:r>
              <a:rPr b="1" lang="en" sz="1900">
                <a:solidFill>
                  <a:srgbClr val="1F3E51"/>
                </a:solidFill>
                <a:latin typeface="Poppins"/>
                <a:ea typeface="Poppins"/>
                <a:cs typeface="Poppins"/>
                <a:sym typeface="Poppins"/>
              </a:rPr>
              <a:t>The changing needs of children in care leads to a greater need for caregivers equipped to meet those needs</a:t>
            </a:r>
            <a:endParaRPr b="1" i="0" sz="1900" u="none" cap="none" strike="noStrike">
              <a:solidFill>
                <a:srgbClr val="1F3E51"/>
              </a:solidFill>
              <a:latin typeface="Poppins"/>
              <a:ea typeface="Poppins"/>
              <a:cs typeface="Poppins"/>
              <a:sym typeface="Poppins"/>
            </a:endParaRPr>
          </a:p>
        </p:txBody>
      </p:sp>
      <p:pic>
        <p:nvPicPr>
          <p:cNvPr id="255" name="Google Shape;255;p31"/>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sp>
        <p:nvSpPr>
          <p:cNvPr id="256" name="Google Shape;256;p31"/>
          <p:cNvSpPr/>
          <p:nvPr/>
        </p:nvSpPr>
        <p:spPr>
          <a:xfrm>
            <a:off x="1461550" y="1899475"/>
            <a:ext cx="2392800" cy="817200"/>
          </a:xfrm>
          <a:prstGeom prst="rect">
            <a:avLst/>
          </a:prstGeom>
          <a:solidFill>
            <a:srgbClr val="9ECEE8">
              <a:alpha val="44710"/>
            </a:srgbClr>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Children with elevated levels of need</a:t>
            </a:r>
            <a:endParaRPr b="1" i="0" sz="1300" u="none" cap="none" strike="noStrike">
              <a:solidFill>
                <a:srgbClr val="1F3E51"/>
              </a:solidFill>
              <a:latin typeface="Poppins"/>
              <a:ea typeface="Poppins"/>
              <a:cs typeface="Poppins"/>
              <a:sym typeface="Poppins"/>
            </a:endParaRPr>
          </a:p>
        </p:txBody>
      </p:sp>
      <p:sp>
        <p:nvSpPr>
          <p:cNvPr id="257" name="Google Shape;257;p31"/>
          <p:cNvSpPr/>
          <p:nvPr/>
        </p:nvSpPr>
        <p:spPr>
          <a:xfrm>
            <a:off x="1461550" y="3246475"/>
            <a:ext cx="2392800" cy="817200"/>
          </a:xfrm>
          <a:prstGeom prst="rect">
            <a:avLst/>
          </a:prstGeom>
          <a:solidFill>
            <a:srgbClr val="223D52"/>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chemeClr val="lt1"/>
                </a:solidFill>
                <a:latin typeface="Poppins"/>
                <a:ea typeface="Poppins"/>
                <a:cs typeface="Poppins"/>
                <a:sym typeface="Poppins"/>
              </a:rPr>
              <a:t>Usage of group homes and other </a:t>
            </a:r>
            <a:r>
              <a:rPr b="1" lang="en" sz="1300">
                <a:solidFill>
                  <a:schemeClr val="lt1"/>
                </a:solidFill>
                <a:latin typeface="Poppins"/>
                <a:ea typeface="Poppins"/>
                <a:cs typeface="Poppins"/>
                <a:sym typeface="Poppins"/>
              </a:rPr>
              <a:t>institutional</a:t>
            </a:r>
            <a:r>
              <a:rPr b="1" lang="en" sz="1300">
                <a:solidFill>
                  <a:schemeClr val="lt1"/>
                </a:solidFill>
                <a:latin typeface="Poppins"/>
                <a:ea typeface="Poppins"/>
                <a:cs typeface="Poppins"/>
                <a:sym typeface="Poppins"/>
              </a:rPr>
              <a:t> placements</a:t>
            </a:r>
            <a:endParaRPr b="1" i="0" sz="1300" u="none" cap="none" strike="noStrike">
              <a:solidFill>
                <a:schemeClr val="lt1"/>
              </a:solidFill>
              <a:latin typeface="Poppins"/>
              <a:ea typeface="Poppins"/>
              <a:cs typeface="Poppins"/>
              <a:sym typeface="Poppins"/>
            </a:endParaRPr>
          </a:p>
        </p:txBody>
      </p:sp>
      <p:pic>
        <p:nvPicPr>
          <p:cNvPr id="258" name="Google Shape;258;p31"/>
          <p:cNvPicPr preferRelativeResize="0"/>
          <p:nvPr/>
        </p:nvPicPr>
        <p:blipFill>
          <a:blip r:embed="rId4">
            <a:alphaModFix/>
          </a:blip>
          <a:stretch>
            <a:fillRect/>
          </a:stretch>
        </p:blipFill>
        <p:spPr>
          <a:xfrm>
            <a:off x="520563" y="1229500"/>
            <a:ext cx="941000" cy="1487175"/>
          </a:xfrm>
          <a:prstGeom prst="rect">
            <a:avLst/>
          </a:prstGeom>
          <a:noFill/>
          <a:ln>
            <a:noFill/>
          </a:ln>
        </p:spPr>
      </p:pic>
      <p:pic>
        <p:nvPicPr>
          <p:cNvPr id="259" name="Google Shape;259;p31"/>
          <p:cNvPicPr preferRelativeResize="0"/>
          <p:nvPr/>
        </p:nvPicPr>
        <p:blipFill>
          <a:blip r:embed="rId5">
            <a:alphaModFix/>
          </a:blip>
          <a:stretch>
            <a:fillRect/>
          </a:stretch>
        </p:blipFill>
        <p:spPr>
          <a:xfrm>
            <a:off x="520137" y="3246475"/>
            <a:ext cx="941832" cy="149047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2"/>
          <p:cNvSpPr txBox="1"/>
          <p:nvPr/>
        </p:nvSpPr>
        <p:spPr>
          <a:xfrm>
            <a:off x="695550" y="158450"/>
            <a:ext cx="7752900" cy="769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2100"/>
              <a:buFont typeface="Arial"/>
              <a:buNone/>
            </a:pPr>
            <a:r>
              <a:rPr b="1" lang="en" sz="1900">
                <a:solidFill>
                  <a:srgbClr val="1F3E51"/>
                </a:solidFill>
                <a:latin typeface="Poppins"/>
                <a:ea typeface="Poppins"/>
                <a:cs typeface="Poppins"/>
                <a:sym typeface="Poppins"/>
              </a:rPr>
              <a:t>The changing needs of children in care leads to a greater need for caregivers equipped to meet those needs</a:t>
            </a:r>
            <a:endParaRPr b="1" i="0" sz="1900" u="none" cap="none" strike="noStrike">
              <a:solidFill>
                <a:srgbClr val="1F3E51"/>
              </a:solidFill>
              <a:latin typeface="Poppins"/>
              <a:ea typeface="Poppins"/>
              <a:cs typeface="Poppins"/>
              <a:sym typeface="Poppins"/>
            </a:endParaRPr>
          </a:p>
        </p:txBody>
      </p:sp>
      <p:pic>
        <p:nvPicPr>
          <p:cNvPr id="265" name="Google Shape;265;p32"/>
          <p:cNvPicPr preferRelativeResize="0"/>
          <p:nvPr/>
        </p:nvPicPr>
        <p:blipFill rotWithShape="1">
          <a:blip r:embed="rId3">
            <a:alphaModFix/>
          </a:blip>
          <a:srcRect b="0" l="0" r="0" t="0"/>
          <a:stretch/>
        </p:blipFill>
        <p:spPr>
          <a:xfrm>
            <a:off x="8615500" y="52073"/>
            <a:ext cx="476401" cy="374979"/>
          </a:xfrm>
          <a:prstGeom prst="rect">
            <a:avLst/>
          </a:prstGeom>
          <a:noFill/>
          <a:ln>
            <a:noFill/>
          </a:ln>
        </p:spPr>
      </p:pic>
      <p:sp>
        <p:nvSpPr>
          <p:cNvPr id="266" name="Google Shape;266;p32"/>
          <p:cNvSpPr/>
          <p:nvPr/>
        </p:nvSpPr>
        <p:spPr>
          <a:xfrm>
            <a:off x="1461550" y="1899475"/>
            <a:ext cx="2392800" cy="817200"/>
          </a:xfrm>
          <a:prstGeom prst="rect">
            <a:avLst/>
          </a:prstGeom>
          <a:solidFill>
            <a:srgbClr val="9ECEE8">
              <a:alpha val="44710"/>
            </a:srgbClr>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Children with elevated levels of need</a:t>
            </a:r>
            <a:endParaRPr b="1" i="0" sz="1300" u="none" cap="none" strike="noStrike">
              <a:solidFill>
                <a:srgbClr val="1F3E51"/>
              </a:solidFill>
              <a:latin typeface="Poppins"/>
              <a:ea typeface="Poppins"/>
              <a:cs typeface="Poppins"/>
              <a:sym typeface="Poppins"/>
            </a:endParaRPr>
          </a:p>
        </p:txBody>
      </p:sp>
      <p:sp>
        <p:nvSpPr>
          <p:cNvPr id="267" name="Google Shape;267;p32"/>
          <p:cNvSpPr/>
          <p:nvPr/>
        </p:nvSpPr>
        <p:spPr>
          <a:xfrm>
            <a:off x="1461550" y="3246475"/>
            <a:ext cx="2392800" cy="817200"/>
          </a:xfrm>
          <a:prstGeom prst="rect">
            <a:avLst/>
          </a:prstGeom>
          <a:solidFill>
            <a:srgbClr val="223D52"/>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chemeClr val="lt1"/>
                </a:solidFill>
                <a:latin typeface="Poppins"/>
                <a:ea typeface="Poppins"/>
                <a:cs typeface="Poppins"/>
                <a:sym typeface="Poppins"/>
              </a:rPr>
              <a:t>Usage of group homes and other institutional placements</a:t>
            </a:r>
            <a:endParaRPr b="1" i="0" sz="1300" u="none" cap="none" strike="noStrike">
              <a:solidFill>
                <a:schemeClr val="lt1"/>
              </a:solidFill>
              <a:latin typeface="Poppins"/>
              <a:ea typeface="Poppins"/>
              <a:cs typeface="Poppins"/>
              <a:sym typeface="Poppins"/>
            </a:endParaRPr>
          </a:p>
        </p:txBody>
      </p:sp>
      <p:pic>
        <p:nvPicPr>
          <p:cNvPr id="268" name="Google Shape;268;p32"/>
          <p:cNvPicPr preferRelativeResize="0"/>
          <p:nvPr/>
        </p:nvPicPr>
        <p:blipFill>
          <a:blip r:embed="rId4">
            <a:alphaModFix/>
          </a:blip>
          <a:stretch>
            <a:fillRect/>
          </a:stretch>
        </p:blipFill>
        <p:spPr>
          <a:xfrm>
            <a:off x="520563" y="1229500"/>
            <a:ext cx="941000" cy="1487175"/>
          </a:xfrm>
          <a:prstGeom prst="rect">
            <a:avLst/>
          </a:prstGeom>
          <a:noFill/>
          <a:ln>
            <a:noFill/>
          </a:ln>
        </p:spPr>
      </p:pic>
      <p:pic>
        <p:nvPicPr>
          <p:cNvPr id="269" name="Google Shape;269;p32"/>
          <p:cNvPicPr preferRelativeResize="0"/>
          <p:nvPr/>
        </p:nvPicPr>
        <p:blipFill>
          <a:blip r:embed="rId5">
            <a:alphaModFix/>
          </a:blip>
          <a:stretch>
            <a:fillRect/>
          </a:stretch>
        </p:blipFill>
        <p:spPr>
          <a:xfrm>
            <a:off x="520137" y="3246475"/>
            <a:ext cx="941832" cy="1490472"/>
          </a:xfrm>
          <a:prstGeom prst="rect">
            <a:avLst/>
          </a:prstGeom>
          <a:noFill/>
          <a:ln>
            <a:noFill/>
          </a:ln>
        </p:spPr>
      </p:pic>
      <p:pic>
        <p:nvPicPr>
          <p:cNvPr id="270" name="Google Shape;270;p32"/>
          <p:cNvPicPr preferRelativeResize="0"/>
          <p:nvPr/>
        </p:nvPicPr>
        <p:blipFill>
          <a:blip r:embed="rId6">
            <a:alphaModFix/>
          </a:blip>
          <a:stretch>
            <a:fillRect/>
          </a:stretch>
        </p:blipFill>
        <p:spPr>
          <a:xfrm>
            <a:off x="4250400" y="2571750"/>
            <a:ext cx="1432045" cy="817200"/>
          </a:xfrm>
          <a:prstGeom prst="rect">
            <a:avLst/>
          </a:prstGeom>
          <a:noFill/>
          <a:ln>
            <a:noFill/>
          </a:ln>
        </p:spPr>
      </p:pic>
      <p:sp>
        <p:nvSpPr>
          <p:cNvPr id="271" name="Google Shape;271;p32"/>
          <p:cNvSpPr/>
          <p:nvPr/>
        </p:nvSpPr>
        <p:spPr>
          <a:xfrm>
            <a:off x="6078500" y="2361150"/>
            <a:ext cx="2537100" cy="1238400"/>
          </a:xfrm>
          <a:prstGeom prst="rect">
            <a:avLst/>
          </a:prstGeom>
          <a:solidFill>
            <a:srgbClr val="FFC370"/>
          </a:solidFill>
          <a:ln>
            <a:noFill/>
          </a:ln>
        </p:spPr>
        <p:txBody>
          <a:bodyPr anchorCtr="0" anchor="ctr" bIns="91425" lIns="182875" spcFirstLastPara="1" rIns="18287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lang="en" sz="1300">
                <a:solidFill>
                  <a:srgbClr val="1F3E51"/>
                </a:solidFill>
                <a:latin typeface="Poppins"/>
                <a:ea typeface="Poppins"/>
                <a:cs typeface="Poppins"/>
                <a:sym typeface="Poppins"/>
              </a:rPr>
              <a:t>Greater need for family-like placement options for children with high needs</a:t>
            </a:r>
            <a:endParaRPr b="1" i="0" sz="1300" u="none" cap="none" strike="noStrike">
              <a:solidFill>
                <a:srgbClr val="1F3E51"/>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ECEE8"/>
        </a:solidFill>
      </p:bgPr>
    </p:bg>
    <p:spTree>
      <p:nvGrpSpPr>
        <p:cNvPr id="275" name="Shape 275"/>
        <p:cNvGrpSpPr/>
        <p:nvPr/>
      </p:nvGrpSpPr>
      <p:grpSpPr>
        <a:xfrm>
          <a:off x="0" y="0"/>
          <a:ext cx="0" cy="0"/>
          <a:chOff x="0" y="0"/>
          <a:chExt cx="0" cy="0"/>
        </a:xfrm>
      </p:grpSpPr>
      <p:sp>
        <p:nvSpPr>
          <p:cNvPr id="276" name="Google Shape;276;p33"/>
          <p:cNvSpPr txBox="1"/>
          <p:nvPr>
            <p:ph type="title"/>
          </p:nvPr>
        </p:nvSpPr>
        <p:spPr>
          <a:xfrm>
            <a:off x="311700" y="1716450"/>
            <a:ext cx="8520600" cy="25146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118248"/>
              <a:buFont typeface="Arial"/>
              <a:buNone/>
            </a:pPr>
            <a:r>
              <a:rPr b="1" lang="en" sz="2740">
                <a:solidFill>
                  <a:srgbClr val="1F3E51"/>
                </a:solidFill>
                <a:latin typeface="Poppins"/>
                <a:ea typeface="Poppins"/>
                <a:cs typeface="Poppins"/>
                <a:sym typeface="Poppins"/>
              </a:rPr>
              <a:t>How have the needs of children in care changed in your jurisdiction?</a:t>
            </a:r>
            <a:endParaRPr b="1" sz="2740">
              <a:solidFill>
                <a:srgbClr val="1F3E51"/>
              </a:solidFill>
              <a:latin typeface="Poppins"/>
              <a:ea typeface="Poppins"/>
              <a:cs typeface="Poppins"/>
              <a:sym typeface="Poppins"/>
            </a:endParaRPr>
          </a:p>
          <a:p>
            <a:pPr indent="0" lvl="0" marL="0" rtl="0" algn="ctr">
              <a:lnSpc>
                <a:spcPct val="100000"/>
              </a:lnSpc>
              <a:spcBef>
                <a:spcPts val="0"/>
              </a:spcBef>
              <a:spcAft>
                <a:spcPts val="0"/>
              </a:spcAft>
              <a:buClr>
                <a:schemeClr val="dk1"/>
              </a:buClr>
              <a:buSzPct val="118248"/>
              <a:buFont typeface="Arial"/>
              <a:buNone/>
            </a:pPr>
            <a:r>
              <a:t/>
            </a:r>
            <a:endParaRPr b="1" sz="2740">
              <a:solidFill>
                <a:srgbClr val="1F3E51"/>
              </a:solidFill>
              <a:latin typeface="Poppins"/>
              <a:ea typeface="Poppins"/>
              <a:cs typeface="Poppins"/>
              <a:sym typeface="Poppins"/>
            </a:endParaRPr>
          </a:p>
          <a:p>
            <a:pPr indent="0" lvl="0" marL="0" rtl="0" algn="ctr">
              <a:lnSpc>
                <a:spcPct val="100000"/>
              </a:lnSpc>
              <a:spcBef>
                <a:spcPts val="0"/>
              </a:spcBef>
              <a:spcAft>
                <a:spcPts val="0"/>
              </a:spcAft>
              <a:buClr>
                <a:schemeClr val="dk1"/>
              </a:buClr>
              <a:buSzPct val="118248"/>
              <a:buFont typeface="Arial"/>
              <a:buNone/>
            </a:pPr>
            <a:r>
              <a:rPr b="1" lang="en" sz="2740">
                <a:solidFill>
                  <a:srgbClr val="1F3E51"/>
                </a:solidFill>
                <a:latin typeface="Poppins"/>
                <a:ea typeface="Poppins"/>
                <a:cs typeface="Poppins"/>
                <a:sym typeface="Poppins"/>
              </a:rPr>
              <a:t>What measures have been successful in providing suitable homes to meet those needs?</a:t>
            </a:r>
            <a:endParaRPr b="1" sz="2740">
              <a:solidFill>
                <a:srgbClr val="1F3E51"/>
              </a:solidFill>
              <a:latin typeface="Poppins"/>
              <a:ea typeface="Poppins"/>
              <a:cs typeface="Poppins"/>
              <a:sym typeface="Poppins"/>
            </a:endParaRPr>
          </a:p>
        </p:txBody>
      </p:sp>
      <p:pic>
        <p:nvPicPr>
          <p:cNvPr id="277" name="Google Shape;277;p33"/>
          <p:cNvPicPr preferRelativeResize="0"/>
          <p:nvPr/>
        </p:nvPicPr>
        <p:blipFill rotWithShape="1">
          <a:blip r:embed="rId3">
            <a:alphaModFix/>
          </a:blip>
          <a:srcRect b="0" l="0" r="0" t="0"/>
          <a:stretch/>
        </p:blipFill>
        <p:spPr>
          <a:xfrm>
            <a:off x="8613648" y="54864"/>
            <a:ext cx="475489" cy="374903"/>
          </a:xfrm>
          <a:prstGeom prst="rect">
            <a:avLst/>
          </a:prstGeom>
          <a:noFill/>
          <a:ln>
            <a:noFill/>
          </a:ln>
        </p:spPr>
      </p:pic>
      <p:sp>
        <p:nvSpPr>
          <p:cNvPr id="278" name="Google Shape;278;p33"/>
          <p:cNvSpPr txBox="1"/>
          <p:nvPr>
            <p:ph type="title"/>
          </p:nvPr>
        </p:nvSpPr>
        <p:spPr>
          <a:xfrm>
            <a:off x="311700" y="181150"/>
            <a:ext cx="8520600" cy="17106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Clr>
                <a:schemeClr val="dk1"/>
              </a:buClr>
              <a:buSzPts val="3240"/>
              <a:buFont typeface="Arial"/>
              <a:buNone/>
            </a:pPr>
            <a:r>
              <a:rPr b="1" lang="en" sz="2740" u="sng">
                <a:solidFill>
                  <a:srgbClr val="1F3E51"/>
                </a:solidFill>
                <a:latin typeface="Poppins"/>
                <a:ea typeface="Poppins"/>
                <a:cs typeface="Poppins"/>
                <a:sym typeface="Poppins"/>
              </a:rPr>
              <a:t>Leave reflections in the chat…</a:t>
            </a:r>
            <a:endParaRPr b="1" sz="2740" u="sng">
              <a:solidFill>
                <a:srgbClr val="1F3E5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